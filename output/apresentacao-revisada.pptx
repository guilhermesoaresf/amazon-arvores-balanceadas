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63b2bef1e499e" /><Relationship Type="http://schemas.openxmlformats.org/officeDocument/2006/relationships/extended-properties" Target="/docProps/app.xml" Id="R2612d4f8e4eb402a" /><Relationship Type="http://schemas.openxmlformats.org/officeDocument/2006/relationships/officeDocument" Target="/ppt/presentation.xml" Id="R7e651ea867d8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a8867d09d46d2"/>
  </p:sldMasterIdLst>
  <p:notesMasterIdLst>
    <p:notesMasterId xmlns:r="http://schemas.openxmlformats.org/officeDocument/2006/relationships" r:id="Rb4c8ba4314d4460b"/>
  </p:notesMasterIdLst>
  <p:sldIdLst>
    <p:sldId xmlns:r="http://schemas.openxmlformats.org/officeDocument/2006/relationships" id="256" r:id="Rd7b48f29448e4519"/>
    <p:sldId xmlns:r="http://schemas.openxmlformats.org/officeDocument/2006/relationships" id="257" r:id="Rc69286c534c941ac"/>
    <p:sldId xmlns:r="http://schemas.openxmlformats.org/officeDocument/2006/relationships" id="258" r:id="Rf16e343c43204767"/>
    <p:sldId xmlns:r="http://schemas.openxmlformats.org/officeDocument/2006/relationships" id="259" r:id="R0f0731e154bc4fb0"/>
    <p:sldId xmlns:r="http://schemas.openxmlformats.org/officeDocument/2006/relationships" id="260" r:id="R3dd2a8f65d534abb"/>
    <p:sldId xmlns:r="http://schemas.openxmlformats.org/officeDocument/2006/relationships" id="261" r:id="R6aa7961c389e48f3"/>
    <p:sldId xmlns:r="http://schemas.openxmlformats.org/officeDocument/2006/relationships" id="262" r:id="R0488466046364c30"/>
    <p:sldId xmlns:r="http://schemas.openxmlformats.org/officeDocument/2006/relationships" id="263" r:id="R7acae38f4de6433f"/>
    <p:sldId xmlns:r="http://schemas.openxmlformats.org/officeDocument/2006/relationships" id="264" r:id="Rd4079abdd5c14d3e"/>
    <p:sldId xmlns:r="http://schemas.openxmlformats.org/officeDocument/2006/relationships" id="265" r:id="R8611dacba0b9495f"/>
    <p:sldId xmlns:r="http://schemas.openxmlformats.org/officeDocument/2006/relationships" id="266" r:id="R2d30c30c2cb64174"/>
    <p:sldId xmlns:r="http://schemas.openxmlformats.org/officeDocument/2006/relationships" id="267" r:id="R1949f8f6b409408a"/>
    <p:sldId xmlns:r="http://schemas.openxmlformats.org/officeDocument/2006/relationships" id="268" r:id="R43ad2609f1634f21"/>
    <p:sldId xmlns:r="http://schemas.openxmlformats.org/officeDocument/2006/relationships" id="269" r:id="R859f3bfb0ad74bc5"/>
    <p:sldId xmlns:r="http://schemas.openxmlformats.org/officeDocument/2006/relationships" id="270" r:id="Rc02f7ce60ba847f8"/>
    <p:sldId xmlns:r="http://schemas.openxmlformats.org/officeDocument/2006/relationships" id="271" r:id="R3f4caacc0cce4f7e"/>
    <p:sldId xmlns:r="http://schemas.openxmlformats.org/officeDocument/2006/relationships" id="272" r:id="R169701930e1a4dc0"/>
    <p:sldId xmlns:r="http://schemas.openxmlformats.org/officeDocument/2006/relationships" id="273" r:id="R54d4def6930d4bc0"/>
    <p:sldId xmlns:r="http://schemas.openxmlformats.org/officeDocument/2006/relationships" id="274" r:id="R7e826b15f9a34f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376a027fa74012" /><Relationship Type="http://schemas.openxmlformats.org/officeDocument/2006/relationships/slideMaster" Target="/ppt/slideMasters/slideMaster1.xml" Id="R971a8867d09d46d2" /><Relationship Type="http://schemas.openxmlformats.org/officeDocument/2006/relationships/notesMaster" Target="/ppt/notesMasters/notesMaster1.xml" Id="Rb4c8ba4314d4460b" /><Relationship Type="http://schemas.openxmlformats.org/officeDocument/2006/relationships/presProps" Target="/ppt/presProps.xml" Id="Rf5856190c3874399" /><Relationship Type="http://schemas.openxmlformats.org/officeDocument/2006/relationships/tableStyles" Target="/ppt/tableStyles.xml" Id="Rceb03f27c5ab4e62" /><Relationship Type="http://schemas.openxmlformats.org/officeDocument/2006/relationships/slide" Target="/ppt/slides/slide1.xml" Id="Rd7b48f29448e4519" /><Relationship Type="http://schemas.openxmlformats.org/officeDocument/2006/relationships/slide" Target="/ppt/slides/slide2.xml" Id="Rc69286c534c941ac" /><Relationship Type="http://schemas.openxmlformats.org/officeDocument/2006/relationships/slide" Target="/ppt/slides/slide3.xml" Id="Rf16e343c43204767" /><Relationship Type="http://schemas.openxmlformats.org/officeDocument/2006/relationships/slide" Target="/ppt/slides/slide4.xml" Id="R0f0731e154bc4fb0" /><Relationship Type="http://schemas.openxmlformats.org/officeDocument/2006/relationships/slide" Target="/ppt/slides/slide5.xml" Id="R3dd2a8f65d534abb" /><Relationship Type="http://schemas.openxmlformats.org/officeDocument/2006/relationships/slide" Target="/ppt/slides/slide6.xml" Id="R6aa7961c389e48f3" /><Relationship Type="http://schemas.openxmlformats.org/officeDocument/2006/relationships/slide" Target="/ppt/slides/slide7.xml" Id="R0488466046364c30" /><Relationship Type="http://schemas.openxmlformats.org/officeDocument/2006/relationships/slide" Target="/ppt/slides/slide8.xml" Id="R7acae38f4de6433f" /><Relationship Type="http://schemas.openxmlformats.org/officeDocument/2006/relationships/slide" Target="/ppt/slides/slide9.xml" Id="Rd4079abdd5c14d3e" /><Relationship Type="http://schemas.openxmlformats.org/officeDocument/2006/relationships/slide" Target="/ppt/slides/slide10.xml" Id="R8611dacba0b9495f" /><Relationship Type="http://schemas.openxmlformats.org/officeDocument/2006/relationships/slide" Target="/ppt/slides/slide11.xml" Id="R2d30c30c2cb64174" /><Relationship Type="http://schemas.openxmlformats.org/officeDocument/2006/relationships/slide" Target="/ppt/slides/slide12.xml" Id="R1949f8f6b409408a" /><Relationship Type="http://schemas.openxmlformats.org/officeDocument/2006/relationships/slide" Target="/ppt/slides/slide13.xml" Id="R43ad2609f1634f21" /><Relationship Type="http://schemas.openxmlformats.org/officeDocument/2006/relationships/slide" Target="/ppt/slides/slide14.xml" Id="R859f3bfb0ad74bc5" /><Relationship Type="http://schemas.openxmlformats.org/officeDocument/2006/relationships/slide" Target="/ppt/slides/slide15.xml" Id="Rc02f7ce60ba847f8" /><Relationship Type="http://schemas.openxmlformats.org/officeDocument/2006/relationships/slide" Target="/ppt/slides/slide16.xml" Id="R3f4caacc0cce4f7e" /><Relationship Type="http://schemas.openxmlformats.org/officeDocument/2006/relationships/slide" Target="/ppt/slides/slide17.xml" Id="R169701930e1a4dc0" /><Relationship Type="http://schemas.openxmlformats.org/officeDocument/2006/relationships/slide" Target="/ppt/slides/slide18.xml" Id="R54d4def6930d4bc0" /><Relationship Type="http://schemas.openxmlformats.org/officeDocument/2006/relationships/slide" Target="/ppt/slides/slide19.xml" Id="R7e826b15f9a34f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8e0a5bd45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56c9d5e924912" /><Relationship Type="http://schemas.openxmlformats.org/officeDocument/2006/relationships/notesMaster" Target="/ppt/notesMasters/notesMaster1.xml" Id="R83a367c839d044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0656735dd466b" /><Relationship Type="http://schemas.openxmlformats.org/officeDocument/2006/relationships/notesMaster" Target="/ppt/notesMasters/notesMaster1.xml" Id="Rbef97a26aa22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f9edd60154fce" /><Relationship Type="http://schemas.openxmlformats.org/officeDocument/2006/relationships/notesMaster" Target="/ppt/notesMasters/notesMaster1.xml" Id="R65cbce88fc414b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054054391c45d5" /><Relationship Type="http://schemas.openxmlformats.org/officeDocument/2006/relationships/notesMaster" Target="/ppt/notesMasters/notesMaster1.xml" Id="R4d26d5eb808f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b29eedcbd44cb9" /><Relationship Type="http://schemas.openxmlformats.org/officeDocument/2006/relationships/notesMaster" Target="/ppt/notesMasters/notesMaster1.xml" Id="Rd37c580b1b4e47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ffd289e54a4c12" /><Relationship Type="http://schemas.openxmlformats.org/officeDocument/2006/relationships/notesMaster" Target="/ppt/notesMasters/notesMaster1.xml" Id="R7d639fcea4a643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0c1a27dc284459" /><Relationship Type="http://schemas.openxmlformats.org/officeDocument/2006/relationships/notesMaster" Target="/ppt/notesMasters/notesMaster1.xml" Id="R159cdaf502794b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45dc1220004f35" /><Relationship Type="http://schemas.openxmlformats.org/officeDocument/2006/relationships/notesMaster" Target="/ppt/notesMasters/notesMaster1.xml" Id="R2f475d02474a4f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9452c94fe947ba" /><Relationship Type="http://schemas.openxmlformats.org/officeDocument/2006/relationships/notesMaster" Target="/ppt/notesMasters/notesMaster1.xml" Id="R0dbddae4a8af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2d3ebd70c0480d" /><Relationship Type="http://schemas.openxmlformats.org/officeDocument/2006/relationships/notesMaster" Target="/ppt/notesMasters/notesMaster1.xml" Id="Rf8598542b25e47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c93eadce6c45bf" /><Relationship Type="http://schemas.openxmlformats.org/officeDocument/2006/relationships/notesMaster" Target="/ppt/notesMasters/notesMaster1.xml" Id="R1f0c8bf60f104f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728c87fcf845c9" /><Relationship Type="http://schemas.openxmlformats.org/officeDocument/2006/relationships/notesMaster" Target="/ppt/notesMasters/notesMaster1.xml" Id="Rb3dc6cb08a2e47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3b89bc57644d9c" /><Relationship Type="http://schemas.openxmlformats.org/officeDocument/2006/relationships/notesMaster" Target="/ppt/notesMasters/notesMaster1.xml" Id="R310d9919a2b949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9a479c9fad496d" /><Relationship Type="http://schemas.openxmlformats.org/officeDocument/2006/relationships/notesMaster" Target="/ppt/notesMasters/notesMaster1.xml" Id="R00e94a0584e74d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3fc5cc93124fa8" /><Relationship Type="http://schemas.openxmlformats.org/officeDocument/2006/relationships/notesMaster" Target="/ppt/notesMasters/notesMaster1.xml" Id="R6c0d3d069cf344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5a339354de4678" /><Relationship Type="http://schemas.openxmlformats.org/officeDocument/2006/relationships/notesMaster" Target="/ppt/notesMasters/notesMaster1.xml" Id="R3162d4922d2f47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8ce69503334961" /><Relationship Type="http://schemas.openxmlformats.org/officeDocument/2006/relationships/notesMaster" Target="/ppt/notesMasters/notesMaster1.xml" Id="Rb17fcec6b75744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63f0b63d654b61" /><Relationship Type="http://schemas.openxmlformats.org/officeDocument/2006/relationships/notesMaster" Target="/ppt/notesMasters/notesMaster1.xml" Id="R05f1cbfd23394c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4196eed0b146ac" /><Relationship Type="http://schemas.openxmlformats.org/officeDocument/2006/relationships/notesMaster" Target="/ppt/notesMasters/notesMaster1.xml" Id="R05ceafe82d2c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04c14086a4e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dbf635d8743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6678d908248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534932f914b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3136845f04e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2ccd7204f46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7985F6-7AA6-408A-BE55-9B28FC34C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907B5A-6592-40CB-821A-A10A75CFCB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7CBDB6-92CA-4EB7-B41E-7EA2F54D6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A1BB07-2F42-4CFE-AB81-C01B0CEE5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1A4D38-7174-4C23-8995-1E19B83F58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2120DA-4643-45B5-B7CC-0CFE8F0E9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D945F4-0F85-4C8A-9665-F1A0698AE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7EEC43-FCD5-42F5-9667-418DF83827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D0AAB4-9359-453F-989E-C09F8EE55B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DE8799-83B9-4A58-AA4A-E9B34B4389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d7b005a984d25" /><Relationship Type="http://schemas.openxmlformats.org/officeDocument/2006/relationships/slideLayout" Target="/ppt/slideLayouts/slideLayout1.xml" Id="Re664a1a4effd44f1" /><Relationship Type="http://schemas.openxmlformats.org/officeDocument/2006/relationships/slideLayout" Target="/ppt/slideLayouts/slideLayout2.xml" Id="R236f3f860f0b4203" /><Relationship Type="http://schemas.openxmlformats.org/officeDocument/2006/relationships/slideLayout" Target="/ppt/slideLayouts/slideLayout3.xml" Id="R21c53d3463a74a1b" /><Relationship Type="http://schemas.openxmlformats.org/officeDocument/2006/relationships/slideLayout" Target="/ppt/slideLayouts/slideLayout4.xml" Id="Rc6440a24840d49a5" /><Relationship Type="http://schemas.openxmlformats.org/officeDocument/2006/relationships/slideLayout" Target="/ppt/slideLayouts/slideLayout5.xml" Id="R4c4a30eac1704990" /><Relationship Type="http://schemas.openxmlformats.org/officeDocument/2006/relationships/slideLayout" Target="/ppt/slideLayouts/slideLayout6.xml" Id="R4995f27c85f649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4a1a4effd44f1"/>
    <p:sldLayoutId xmlns:r="http://schemas.openxmlformats.org/officeDocument/2006/relationships" id="2147483650" r:id="R236f3f860f0b4203"/>
    <p:sldLayoutId xmlns:r="http://schemas.openxmlformats.org/officeDocument/2006/relationships" id="2147483651" r:id="R21c53d3463a74a1b"/>
    <p:sldLayoutId xmlns:r="http://schemas.openxmlformats.org/officeDocument/2006/relationships" id="2147483652" r:id="Rc6440a24840d49a5"/>
    <p:sldLayoutId xmlns:r="http://schemas.openxmlformats.org/officeDocument/2006/relationships" id="2147483653" r:id="R4c4a30eac1704990"/>
    <p:sldLayoutId xmlns:r="http://schemas.openxmlformats.org/officeDocument/2006/relationships" id="2147483654" r:id="R4995f27c85f649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93fb448b8482f" /><Relationship Type="http://schemas.openxmlformats.org/officeDocument/2006/relationships/notesSlide" Target="/ppt/notesSlides/notesSlide1.xml" Id="Rad49aa2af83b47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155df21ab4123" /><Relationship Type="http://schemas.openxmlformats.org/officeDocument/2006/relationships/notesSlide" Target="/ppt/notesSlides/notesSlide2.xml" Id="R24c9c0be840c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a8a3eb3a744ea" /><Relationship Type="http://schemas.openxmlformats.org/officeDocument/2006/relationships/notesSlide" Target="/ppt/notesSlides/notesSlide3.xml" Id="Rf2362a71a7ee4c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cf78f64804773" /><Relationship Type="http://schemas.openxmlformats.org/officeDocument/2006/relationships/notesSlide" Target="/ppt/notesSlides/notesSlide4.xml" Id="R975c649d2624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f0eb67c504bed" /><Relationship Type="http://schemas.openxmlformats.org/officeDocument/2006/relationships/notesSlide" Target="/ppt/notesSlides/notesSlide5.xml" Id="R1663500869674e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c3600950845d9" /><Relationship Type="http://schemas.openxmlformats.org/officeDocument/2006/relationships/notesSlide" Target="/ppt/notesSlides/notesSlide6.xml" Id="Rc7fca70abae34f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2f2ac6a4a418e" /><Relationship Type="http://schemas.openxmlformats.org/officeDocument/2006/relationships/notesSlide" Target="/ppt/notesSlides/notesSlide7.xml" Id="R1d559a5e16bd42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e7796e42b45ee" /><Relationship Type="http://schemas.openxmlformats.org/officeDocument/2006/relationships/notesSlide" Target="/ppt/notesSlides/notesSlide8.xml" Id="Rdb1f879819c645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34136c70a4605" /><Relationship Type="http://schemas.openxmlformats.org/officeDocument/2006/relationships/notesSlide" Target="/ppt/notesSlides/notesSlide9.xml" Id="R0337a6829f394f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f31cab5eb4bc1" /><Relationship Type="http://schemas.openxmlformats.org/officeDocument/2006/relationships/notesSlide" Target="/ppt/notesSlides/notesSlide10.xml" Id="R67c84d2076a447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bdd37904740f4" /><Relationship Type="http://schemas.openxmlformats.org/officeDocument/2006/relationships/notesSlide" Target="/ppt/notesSlides/notesSlide11.xml" Id="Ra122b1acfe8145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22df1304c4728" /><Relationship Type="http://schemas.openxmlformats.org/officeDocument/2006/relationships/notesSlide" Target="/ppt/notesSlides/notesSlide12.xml" Id="R92f9c49f0a5c4b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f9e1a31eb4598" /><Relationship Type="http://schemas.openxmlformats.org/officeDocument/2006/relationships/notesSlide" Target="/ppt/notesSlides/notesSlide13.xml" Id="Re5750530be0c4b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c5fd422604aaa" /><Relationship Type="http://schemas.openxmlformats.org/officeDocument/2006/relationships/notesSlide" Target="/ppt/notesSlides/notesSlide14.xml" Id="Rac59846e6b2446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c57149b9346a8" /><Relationship Type="http://schemas.openxmlformats.org/officeDocument/2006/relationships/notesSlide" Target="/ppt/notesSlides/notesSlide15.xml" Id="R5f204f6b52a34d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d8137a8104a8d" /><Relationship Type="http://schemas.openxmlformats.org/officeDocument/2006/relationships/notesSlide" Target="/ppt/notesSlides/notesSlide16.xml" Id="Reef2312abeff4c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eabb6836a4526" /><Relationship Type="http://schemas.openxmlformats.org/officeDocument/2006/relationships/notesSlide" Target="/ppt/notesSlides/notesSlide17.xml" Id="Rc6c6d66e12124c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ece53e7cf4d86" /><Relationship Type="http://schemas.openxmlformats.org/officeDocument/2006/relationships/notesSlide" Target="/ppt/notesSlides/notesSlide18.xml" Id="R058b70130b4e4d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d604e1dfc4947" /><Relationship Type="http://schemas.openxmlformats.org/officeDocument/2006/relationships/notesSlide" Target="/ppt/notesSlides/notesSlide19.xml" Id="R436015ec0baa49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45BA9-EC25-4C8F-815B-6EC81CA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Árvores balanceadas para encomendas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2C624-6DA8-410C-B0B0-842A8EAA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Amazon Engineering Challenge · Trabalho da Unidade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8670C-2605-44ED-8152-BC2966CC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01  |  IMD0039 · Guilherme Soares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E45A6-743B-4674-8888-02CCBBBF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2A3A"/>
                </a:solidFill>
              </a:defRPr>
            </a:defPPr>
            <a:lvl1pPr>
              <a:defRPr sz="3900" b="1">
                <a:solidFill>
                  <a:srgbClr val="172A3A"/>
                </a:solidFill>
              </a:defRPr>
            </a:lvl1pPr>
            <a:lvl2pPr>
              <a:defRPr sz="3900" b="1">
                <a:solidFill>
                  <a:srgbClr val="172A3A"/>
                </a:solidFill>
              </a:defRPr>
            </a:lvl2pPr>
            <a:lvl3pPr>
              <a:defRPr sz="3900" b="1">
                <a:solidFill>
                  <a:srgbClr val="172A3A"/>
                </a:solidFill>
              </a:defRPr>
            </a:lvl3pPr>
            <a:lvl4pPr>
              <a:defRPr sz="3900" b="1">
                <a:solidFill>
                  <a:srgbClr val="172A3A"/>
                </a:solidFill>
              </a:defRPr>
            </a:lvl4pPr>
            <a:lvl5pPr>
              <a:defRPr sz="3900" b="1">
                <a:solidFill>
                  <a:srgbClr val="172A3A"/>
                </a:solidFill>
              </a:defRPr>
            </a:lvl5pPr>
            <a:lvl6pPr>
              <a:defRPr sz="3900" b="1">
                <a:solidFill>
                  <a:srgbClr val="172A3A"/>
                </a:solidFill>
              </a:defRPr>
            </a:lvl6pPr>
            <a:lvl7pPr>
              <a:defRPr sz="3900" b="1">
                <a:solidFill>
                  <a:srgbClr val="172A3A"/>
                </a:solidFill>
              </a:defRPr>
            </a:lvl7pPr>
            <a:lvl8pPr>
              <a:defRPr sz="3900" b="1">
                <a:solidFill>
                  <a:srgbClr val="172A3A"/>
                </a:solidFill>
              </a:defRPr>
            </a:lvl8pPr>
            <a:lvl9pPr>
              <a:defRPr sz="39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2A3A"/>
                </a:solidFill>
              </a:defRPr>
            </a:pPr>
            <a:r>
              <a:rPr sz="3900" b="1">
                <a:solidFill>
                  <a:srgbClr val="172A3A"/>
                </a:solidFill>
              </a:rPr>
              <a:t>AVL e Rubro-Negra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FDF72-4C98-4ED1-B6D1-94FF20D8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Implementação, testes e recomendação técnica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2AEEC-122C-4FD9-BC04-41DEAC6B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445"/>
                </a:solidFill>
              </a:defRPr>
            </a:defPPr>
            <a:lvl1pPr>
              <a:defRPr sz="1725" b="0">
                <a:solidFill>
                  <a:srgbClr val="233445"/>
                </a:solidFill>
              </a:defRPr>
            </a:lvl1pPr>
            <a:lvl2pPr>
              <a:defRPr sz="1725" b="0">
                <a:solidFill>
                  <a:srgbClr val="233445"/>
                </a:solidFill>
              </a:defRPr>
            </a:lvl2pPr>
            <a:lvl3pPr>
              <a:defRPr sz="1725" b="0">
                <a:solidFill>
                  <a:srgbClr val="233445"/>
                </a:solidFill>
              </a:defRPr>
            </a:lvl3pPr>
            <a:lvl4pPr>
              <a:defRPr sz="1725" b="0">
                <a:solidFill>
                  <a:srgbClr val="233445"/>
                </a:solidFill>
              </a:defRPr>
            </a:lvl4pPr>
            <a:lvl5pPr>
              <a:defRPr sz="1725" b="0">
                <a:solidFill>
                  <a:srgbClr val="233445"/>
                </a:solidFill>
              </a:defRPr>
            </a:lvl5pPr>
            <a:lvl6pPr>
              <a:defRPr sz="1725" b="0">
                <a:solidFill>
                  <a:srgbClr val="233445"/>
                </a:solidFill>
              </a:defRPr>
            </a:lvl6pPr>
            <a:lvl7pPr>
              <a:defRPr sz="1725" b="0">
                <a:solidFill>
                  <a:srgbClr val="233445"/>
                </a:solidFill>
              </a:defRPr>
            </a:lvl7pPr>
            <a:lvl8pPr>
              <a:defRPr sz="1725" b="0">
                <a:solidFill>
                  <a:srgbClr val="233445"/>
                </a:solidFill>
              </a:defRPr>
            </a:lvl8pPr>
            <a:lvl9pPr>
              <a:defRPr sz="17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Guilherme Soares</a:t>
            </a:r>
          </a:p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Estruturas de Dados Básicas II</a:t>
            </a:r>
          </a:p>
        </p:txBody>
      </p:sp>
    </p:spTree>
    <p:extLst>
      <p:ext uri="{BB962C8B-B14F-4D97-AF65-F5344CB8AC3E}">
        <p14:creationId xmlns:p14="http://schemas.microsoft.com/office/powerpoint/2010/main" val="1073714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79EF5-FAD1-4B85-832C-9775BE1B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O problema: buscar sem depender da ordem de chegada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DA37A-BED9-47BE-AB53-C51F0A2C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02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B9FF0-2CB5-4154-B27C-489EBDA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049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Uma árvore de busca comum mantém valores menores à esquerda e maiores à direita. Se os IDs chegam em ordem crescente, ela pode se tornar uma cadeia.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48D6C-B8AB-43C0-BB91-811E1D99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Exemplo: inserções 10, 20, 30,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526DD-40B2-4519-A915-2694BE31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10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    20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        30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           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0C839-968D-4369-90DF-23699C59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5286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4 nós  →  altura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Buscar 40 percorre os 4 nós.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O balanceamento limita a altura e o caminho de busca.</a:t>
            </a:r>
          </a:p>
        </p:txBody>
      </p:sp>
    </p:spTree>
    <p:extLst>
      <p:ext uri="{BB962C8B-B14F-4D97-AF65-F5344CB8AC3E}">
        <p14:creationId xmlns:p14="http://schemas.microsoft.com/office/powerpoint/2010/main" val="208917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A6247-516D-4722-8823-4683B4BE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O protótipo e as decisões de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11A45-1143-473E-BAF0-D5D13E21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03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32F77-BFB5-4194-869E-F37E2F52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445"/>
                </a:solidFill>
              </a:defRPr>
            </a:defPPr>
            <a:lvl1pPr>
              <a:defRPr sz="1950" b="0">
                <a:solidFill>
                  <a:srgbClr val="233445"/>
                </a:solidFill>
              </a:defRPr>
            </a:lvl1pPr>
            <a:lvl2pPr>
              <a:defRPr sz="1950" b="0">
                <a:solidFill>
                  <a:srgbClr val="233445"/>
                </a:solidFill>
              </a:defRPr>
            </a:lvl2pPr>
            <a:lvl3pPr>
              <a:defRPr sz="1950" b="0">
                <a:solidFill>
                  <a:srgbClr val="233445"/>
                </a:solidFill>
              </a:defRPr>
            </a:lvl3pPr>
            <a:lvl4pPr>
              <a:defRPr sz="1950" b="0">
                <a:solidFill>
                  <a:srgbClr val="233445"/>
                </a:solidFill>
              </a:defRPr>
            </a:lvl4pPr>
            <a:lvl5pPr>
              <a:defRPr sz="1950" b="0">
                <a:solidFill>
                  <a:srgbClr val="233445"/>
                </a:solidFill>
              </a:defRPr>
            </a:lvl5pPr>
            <a:lvl6pPr>
              <a:defRPr sz="1950" b="0">
                <a:solidFill>
                  <a:srgbClr val="233445"/>
                </a:solidFill>
              </a:defRPr>
            </a:lvl6pPr>
            <a:lvl7pPr>
              <a:defRPr sz="1950" b="0">
                <a:solidFill>
                  <a:srgbClr val="233445"/>
                </a:solidFill>
              </a:defRPr>
            </a:lvl7pPr>
            <a:lvl8pPr>
              <a:defRPr sz="1950" b="0">
                <a:solidFill>
                  <a:srgbClr val="233445"/>
                </a:solidFill>
              </a:defRPr>
            </a:lvl8pPr>
            <a:lvl9pPr>
              <a:defRPr sz="1950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445"/>
                </a:solidFill>
              </a:defRPr>
            </a:pPr>
            <a:r>
              <a:rPr sz="1950" b="0">
                <a:solidFill>
                  <a:srgbClr val="233445"/>
                </a:solidFill>
              </a:rPr>
              <a:t>Programa em C++17 com escolha da estrutura ao iniciar. Os identificadores são inteiros únicos.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E6BFB-ED90-4ED9-95C5-313F1D51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Operações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61231-619F-44C8-B96D-2773F3A5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4905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Inserção e remoção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Busca de um ID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Percurso em ordem crescente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Visualização da árvore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35358-5F06-4ACC-86B6-8E3F1EB3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Decisões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979CA-DD13-4821-8C76-866BD66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Duplicado: não insere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ID ausente: informa o usuário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Árvore vazia: mostra mensagem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Dados ficam apenas em memória</a:t>
            </a:r>
          </a:p>
        </p:txBody>
      </p:sp>
    </p:spTree>
    <p:extLst>
      <p:ext uri="{BB962C8B-B14F-4D97-AF65-F5344CB8AC3E}">
        <p14:creationId xmlns:p14="http://schemas.microsoft.com/office/powerpoint/2010/main" val="1677612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18236-7E9D-4F5D-A379-52AE095E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AVL: fator de balanceamento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05593-7154-4763-BDB6-8A85ADD9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A altura usada no programa conta nós: vazia = 0; somente raiz =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0CFB3-C3FA-4346-93CE-5124E84C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04  |  IMD0039 · Guilherme Soares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5EA45-9C78-475D-8B73-CB4BDBD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B7900"/>
                </a:solidFill>
              </a:defRPr>
            </a:defPPr>
            <a:lvl1pPr>
              <a:defRPr sz="2250" b="1">
                <a:solidFill>
                  <a:srgbClr val="DB7900"/>
                </a:solidFill>
              </a:defRPr>
            </a:lvl1pPr>
            <a:lvl2pPr>
              <a:defRPr sz="2250" b="1">
                <a:solidFill>
                  <a:srgbClr val="DB7900"/>
                </a:solidFill>
              </a:defRPr>
            </a:lvl2pPr>
            <a:lvl3pPr>
              <a:defRPr sz="2250" b="1">
                <a:solidFill>
                  <a:srgbClr val="DB7900"/>
                </a:solidFill>
              </a:defRPr>
            </a:lvl3pPr>
            <a:lvl4pPr>
              <a:defRPr sz="2250" b="1">
                <a:solidFill>
                  <a:srgbClr val="DB7900"/>
                </a:solidFill>
              </a:defRPr>
            </a:lvl4pPr>
            <a:lvl5pPr>
              <a:defRPr sz="2250" b="1">
                <a:solidFill>
                  <a:srgbClr val="DB7900"/>
                </a:solidFill>
              </a:defRPr>
            </a:lvl5pPr>
            <a:lvl6pPr>
              <a:defRPr sz="2250" b="1">
                <a:solidFill>
                  <a:srgbClr val="DB7900"/>
                </a:solidFill>
              </a:defRPr>
            </a:lvl6pPr>
            <a:lvl7pPr>
              <a:defRPr sz="2250" b="1">
                <a:solidFill>
                  <a:srgbClr val="DB7900"/>
                </a:solidFill>
              </a:defRPr>
            </a:lvl7pPr>
            <a:lvl8pPr>
              <a:defRPr sz="2250" b="1">
                <a:solidFill>
                  <a:srgbClr val="DB7900"/>
                </a:solidFill>
              </a:defRPr>
            </a:lvl8pPr>
            <a:lvl9pPr>
              <a:defRPr sz="225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B7900"/>
                </a:solidFill>
              </a:defRPr>
            </a:pPr>
            <a:r>
              <a:rPr sz="2250" b="1">
                <a:solidFill>
                  <a:srgbClr val="DB7900"/>
                </a:solidFill>
              </a:rPr>
              <a:t>FB(nó) = altura(esquerda) − altura(direita)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FEDCF-E285-4B7E-88A3-A43D3D5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445"/>
                </a:solidFill>
              </a:defRPr>
            </a:defPPr>
            <a:lvl1pPr>
              <a:defRPr sz="1950" b="0">
                <a:solidFill>
                  <a:srgbClr val="233445"/>
                </a:solidFill>
              </a:defRPr>
            </a:lvl1pPr>
            <a:lvl2pPr>
              <a:defRPr sz="1950" b="0">
                <a:solidFill>
                  <a:srgbClr val="233445"/>
                </a:solidFill>
              </a:defRPr>
            </a:lvl2pPr>
            <a:lvl3pPr>
              <a:defRPr sz="1950" b="0">
                <a:solidFill>
                  <a:srgbClr val="233445"/>
                </a:solidFill>
              </a:defRPr>
            </a:lvl3pPr>
            <a:lvl4pPr>
              <a:defRPr sz="1950" b="0">
                <a:solidFill>
                  <a:srgbClr val="233445"/>
                </a:solidFill>
              </a:defRPr>
            </a:lvl4pPr>
            <a:lvl5pPr>
              <a:defRPr sz="1950" b="0">
                <a:solidFill>
                  <a:srgbClr val="233445"/>
                </a:solidFill>
              </a:defRPr>
            </a:lvl5pPr>
            <a:lvl6pPr>
              <a:defRPr sz="1950" b="0">
                <a:solidFill>
                  <a:srgbClr val="233445"/>
                </a:solidFill>
              </a:defRPr>
            </a:lvl6pPr>
            <a:lvl7pPr>
              <a:defRPr sz="1950" b="0">
                <a:solidFill>
                  <a:srgbClr val="233445"/>
                </a:solidFill>
              </a:defRPr>
            </a:lvl7pPr>
            <a:lvl8pPr>
              <a:defRPr sz="1950" b="0">
                <a:solidFill>
                  <a:srgbClr val="233445"/>
                </a:solidFill>
              </a:defRPr>
            </a:lvl8pPr>
            <a:lvl9pPr>
              <a:defRPr sz="1950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445"/>
                </a:solidFill>
              </a:defRPr>
            </a:pPr>
            <a:r>
              <a:rPr sz="1950" b="0">
                <a:solidFill>
                  <a:srgbClr val="233445"/>
                </a:solidFill>
              </a:rPr>
              <a:t>Em cada nó, o fator deve ser −1, 0 ou +1. Após inserir ou remover, o programa atualiza as alturas no caminho de volta.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214BC-4597-459F-B1B2-3A7E2F11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Se o fator sair desse intervalo, a árvore aplica rotações: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36AF2-E180-4CC1-BE7A-022B8F65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Esquerda-esquerda ou direita-direita: uma rotação.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Esquerda-direita ou direita-esquerda: duas rotações.</a:t>
            </a:r>
          </a:p>
        </p:txBody>
      </p:sp>
    </p:spTree>
    <p:extLst>
      <p:ext uri="{BB962C8B-B14F-4D97-AF65-F5344CB8AC3E}">
        <p14:creationId xmlns:p14="http://schemas.microsoft.com/office/powerpoint/2010/main" val="561072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8FBC3-F36B-411E-A8A1-0115353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AVL: rotação após inserir 30, 20 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FE862-83F4-4046-A499-6D83B7B8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05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2E7A3-BB3F-4E4A-B04C-2D3575AB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B7900"/>
                </a:solidFill>
              </a:defRPr>
            </a:defPPr>
            <a:lvl1pPr>
              <a:defRPr sz="1875" b="1">
                <a:solidFill>
                  <a:srgbClr val="DB7900"/>
                </a:solidFill>
              </a:defRPr>
            </a:lvl1pPr>
            <a:lvl2pPr>
              <a:defRPr sz="1875" b="1">
                <a:solidFill>
                  <a:srgbClr val="DB7900"/>
                </a:solidFill>
              </a:defRPr>
            </a:lvl2pPr>
            <a:lvl3pPr>
              <a:defRPr sz="1875" b="1">
                <a:solidFill>
                  <a:srgbClr val="DB7900"/>
                </a:solidFill>
              </a:defRPr>
            </a:lvl3pPr>
            <a:lvl4pPr>
              <a:defRPr sz="1875" b="1">
                <a:solidFill>
                  <a:srgbClr val="DB7900"/>
                </a:solidFill>
              </a:defRPr>
            </a:lvl4pPr>
            <a:lvl5pPr>
              <a:defRPr sz="1875" b="1">
                <a:solidFill>
                  <a:srgbClr val="DB7900"/>
                </a:solidFill>
              </a:defRPr>
            </a:lvl5pPr>
            <a:lvl6pPr>
              <a:defRPr sz="1875" b="1">
                <a:solidFill>
                  <a:srgbClr val="DB7900"/>
                </a:solidFill>
              </a:defRPr>
            </a:lvl6pPr>
            <a:lvl7pPr>
              <a:defRPr sz="1875" b="1">
                <a:solidFill>
                  <a:srgbClr val="DB7900"/>
                </a:solidFill>
              </a:defRPr>
            </a:lvl7pPr>
            <a:lvl8pPr>
              <a:defRPr sz="1875" b="1">
                <a:solidFill>
                  <a:srgbClr val="DB7900"/>
                </a:solidFill>
              </a:defRPr>
            </a:lvl8pPr>
            <a:lvl9pPr>
              <a:defRPr sz="1875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B7900"/>
                </a:solidFill>
              </a:defRPr>
            </a:pPr>
            <a:r>
              <a:rPr sz="1875" b="1">
                <a:solidFill>
                  <a:srgbClr val="DB7900"/>
                </a:solidFill>
              </a:rPr>
              <a:t>Antes do ajuste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2FA8C-9D05-4156-9296-2B6A0DCE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304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30  (FB = +2)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/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20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/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8A345-D974-4A41-ADCC-7AFCB7C1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24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657585"/>
                </a:solidFill>
              </a:defRPr>
            </a:defPPr>
            <a:lvl1pPr>
              <a:defRPr sz="1875" b="1">
                <a:solidFill>
                  <a:srgbClr val="657585"/>
                </a:solidFill>
              </a:defRPr>
            </a:lvl1pPr>
            <a:lvl2pPr>
              <a:defRPr sz="1875" b="1">
                <a:solidFill>
                  <a:srgbClr val="657585"/>
                </a:solidFill>
              </a:defRPr>
            </a:lvl2pPr>
            <a:lvl3pPr>
              <a:defRPr sz="1875" b="1">
                <a:solidFill>
                  <a:srgbClr val="657585"/>
                </a:solidFill>
              </a:defRPr>
            </a:lvl3pPr>
            <a:lvl4pPr>
              <a:defRPr sz="1875" b="1">
                <a:solidFill>
                  <a:srgbClr val="657585"/>
                </a:solidFill>
              </a:defRPr>
            </a:lvl4pPr>
            <a:lvl5pPr>
              <a:defRPr sz="1875" b="1">
                <a:solidFill>
                  <a:srgbClr val="657585"/>
                </a:solidFill>
              </a:defRPr>
            </a:lvl5pPr>
            <a:lvl6pPr>
              <a:defRPr sz="1875" b="1">
                <a:solidFill>
                  <a:srgbClr val="657585"/>
                </a:solidFill>
              </a:defRPr>
            </a:lvl6pPr>
            <a:lvl7pPr>
              <a:defRPr sz="1875" b="1">
                <a:solidFill>
                  <a:srgbClr val="657585"/>
                </a:solidFill>
              </a:defRPr>
            </a:lvl7pPr>
            <a:lvl8pPr>
              <a:defRPr sz="1875" b="1">
                <a:solidFill>
                  <a:srgbClr val="657585"/>
                </a:solidFill>
              </a:defRPr>
            </a:lvl8pPr>
            <a:lvl9pPr>
              <a:defRPr sz="1875" b="1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57585"/>
                </a:solidFill>
              </a:defRPr>
            </a:pPr>
            <a:r>
              <a:rPr sz="1875" b="1">
                <a:solidFill>
                  <a:srgbClr val="657585"/>
                </a:solidFill>
              </a:rPr>
              <a:t>Rotação à direita em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709C8-CE5E-46D6-86E3-1987045E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B7900"/>
                </a:solidFill>
              </a:defRPr>
            </a:defPPr>
            <a:lvl1pPr>
              <a:defRPr sz="1875" b="1">
                <a:solidFill>
                  <a:srgbClr val="DB7900"/>
                </a:solidFill>
              </a:defRPr>
            </a:lvl1pPr>
            <a:lvl2pPr>
              <a:defRPr sz="1875" b="1">
                <a:solidFill>
                  <a:srgbClr val="DB7900"/>
                </a:solidFill>
              </a:defRPr>
            </a:lvl2pPr>
            <a:lvl3pPr>
              <a:defRPr sz="1875" b="1">
                <a:solidFill>
                  <a:srgbClr val="DB7900"/>
                </a:solidFill>
              </a:defRPr>
            </a:lvl3pPr>
            <a:lvl4pPr>
              <a:defRPr sz="1875" b="1">
                <a:solidFill>
                  <a:srgbClr val="DB7900"/>
                </a:solidFill>
              </a:defRPr>
            </a:lvl4pPr>
            <a:lvl5pPr>
              <a:defRPr sz="1875" b="1">
                <a:solidFill>
                  <a:srgbClr val="DB7900"/>
                </a:solidFill>
              </a:defRPr>
            </a:lvl5pPr>
            <a:lvl6pPr>
              <a:defRPr sz="1875" b="1">
                <a:solidFill>
                  <a:srgbClr val="DB7900"/>
                </a:solidFill>
              </a:defRPr>
            </a:lvl6pPr>
            <a:lvl7pPr>
              <a:defRPr sz="1875" b="1">
                <a:solidFill>
                  <a:srgbClr val="DB7900"/>
                </a:solidFill>
              </a:defRPr>
            </a:lvl7pPr>
            <a:lvl8pPr>
              <a:defRPr sz="1875" b="1">
                <a:solidFill>
                  <a:srgbClr val="DB7900"/>
                </a:solidFill>
              </a:defRPr>
            </a:lvl8pPr>
            <a:lvl9pPr>
              <a:defRPr sz="1875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B7900"/>
                </a:solidFill>
              </a:defRPr>
            </a:pPr>
            <a:r>
              <a:rPr sz="1875" b="1">
                <a:solidFill>
                  <a:srgbClr val="DB7900"/>
                </a:solidFill>
              </a:rPr>
              <a:t>Depois do ajuste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2628A-D08B-44BA-813D-3EEC1247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20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/    \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10     30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C7EA6-B44B-4991-9338-A7268986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 ordem de busca continua 10, 20, 30. A altura cai de 3 para 2 nós.</a:t>
            </a:r>
          </a:p>
        </p:txBody>
      </p:sp>
    </p:spTree>
    <p:extLst>
      <p:ext uri="{BB962C8B-B14F-4D97-AF65-F5344CB8AC3E}">
        <p14:creationId xmlns:p14="http://schemas.microsoft.com/office/powerpoint/2010/main" val="741366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95F9A-746D-4670-B52A-715A9389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Rubro-Negra: propriedades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17100-1524-492A-8953-5761018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[P] = preto; [V] = vermelho. As folhas sentinelas NIL são pretas.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78A7-BCD4-4194-B1F4-95293708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06  |  IMD0039 · Guilherme Soares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DF4FA-5ABF-4157-BCB7-FDFAF90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1. Todo nó é vermelho ou preto; a raiz é preta.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2. Um nó vermelho não tem filho vermelho.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3. Todos os caminhos de um nó até as folhas NIL têm a mesma quantidade de nós pretos.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As regras limitam a altura a, no máximo, 2 × log₂(n + 1), considerando a convenção de altura em arestas.</a:t>
            </a:r>
          </a:p>
        </p:txBody>
      </p:sp>
    </p:spTree>
    <p:extLst>
      <p:ext uri="{BB962C8B-B14F-4D97-AF65-F5344CB8AC3E}">
        <p14:creationId xmlns:p14="http://schemas.microsoft.com/office/powerpoint/2010/main" val="834608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00B77-D1B0-4745-B13C-DBED13F4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Rubro-Negra: exemplo de mudança de cores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39FFE-51B5-4700-A06C-B61B6DB5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Inserções 10, 5, 15 e 1. A inserção de 1 cria dois vermelhos consecutivos.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E630C-267E-4747-98D2-C0FBC6F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07  |  IMD0039 · Guilherme Soares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C7103-2D9E-41F9-A643-73DDCEA4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B7900"/>
                </a:solidFill>
              </a:defRPr>
            </a:defPPr>
            <a:lvl1pPr>
              <a:defRPr sz="1875" b="1">
                <a:solidFill>
                  <a:srgbClr val="DB7900"/>
                </a:solidFill>
              </a:defRPr>
            </a:lvl1pPr>
            <a:lvl2pPr>
              <a:defRPr sz="1875" b="1">
                <a:solidFill>
                  <a:srgbClr val="DB7900"/>
                </a:solidFill>
              </a:defRPr>
            </a:lvl2pPr>
            <a:lvl3pPr>
              <a:defRPr sz="1875" b="1">
                <a:solidFill>
                  <a:srgbClr val="DB7900"/>
                </a:solidFill>
              </a:defRPr>
            </a:lvl3pPr>
            <a:lvl4pPr>
              <a:defRPr sz="1875" b="1">
                <a:solidFill>
                  <a:srgbClr val="DB7900"/>
                </a:solidFill>
              </a:defRPr>
            </a:lvl4pPr>
            <a:lvl5pPr>
              <a:defRPr sz="1875" b="1">
                <a:solidFill>
                  <a:srgbClr val="DB7900"/>
                </a:solidFill>
              </a:defRPr>
            </a:lvl5pPr>
            <a:lvl6pPr>
              <a:defRPr sz="1875" b="1">
                <a:solidFill>
                  <a:srgbClr val="DB7900"/>
                </a:solidFill>
              </a:defRPr>
            </a:lvl6pPr>
            <a:lvl7pPr>
              <a:defRPr sz="1875" b="1">
                <a:solidFill>
                  <a:srgbClr val="DB7900"/>
                </a:solidFill>
              </a:defRPr>
            </a:lvl7pPr>
            <a:lvl8pPr>
              <a:defRPr sz="1875" b="1">
                <a:solidFill>
                  <a:srgbClr val="DB7900"/>
                </a:solidFill>
              </a:defRPr>
            </a:lvl8pPr>
            <a:lvl9pPr>
              <a:defRPr sz="1875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B7900"/>
                </a:solidFill>
              </a:defRPr>
            </a:pPr>
            <a:r>
              <a:rPr sz="1875" b="1">
                <a:solidFill>
                  <a:srgbClr val="DB7900"/>
                </a:solidFill>
              </a:rPr>
              <a:t>Antes da correção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B0602-CB28-4857-9E59-AC4ACD0A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38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  10 [P]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  /      \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5 [V]     15 [V]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/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1 [V]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656C0-6DE9-478D-90E0-D5B2E2B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B7900"/>
                </a:solidFill>
              </a:defRPr>
            </a:defPPr>
            <a:lvl1pPr>
              <a:defRPr sz="1875" b="1">
                <a:solidFill>
                  <a:srgbClr val="DB7900"/>
                </a:solidFill>
              </a:defRPr>
            </a:lvl1pPr>
            <a:lvl2pPr>
              <a:defRPr sz="1875" b="1">
                <a:solidFill>
                  <a:srgbClr val="DB7900"/>
                </a:solidFill>
              </a:defRPr>
            </a:lvl2pPr>
            <a:lvl3pPr>
              <a:defRPr sz="1875" b="1">
                <a:solidFill>
                  <a:srgbClr val="DB7900"/>
                </a:solidFill>
              </a:defRPr>
            </a:lvl3pPr>
            <a:lvl4pPr>
              <a:defRPr sz="1875" b="1">
                <a:solidFill>
                  <a:srgbClr val="DB7900"/>
                </a:solidFill>
              </a:defRPr>
            </a:lvl4pPr>
            <a:lvl5pPr>
              <a:defRPr sz="1875" b="1">
                <a:solidFill>
                  <a:srgbClr val="DB7900"/>
                </a:solidFill>
              </a:defRPr>
            </a:lvl5pPr>
            <a:lvl6pPr>
              <a:defRPr sz="1875" b="1">
                <a:solidFill>
                  <a:srgbClr val="DB7900"/>
                </a:solidFill>
              </a:defRPr>
            </a:lvl6pPr>
            <a:lvl7pPr>
              <a:defRPr sz="1875" b="1">
                <a:solidFill>
                  <a:srgbClr val="DB7900"/>
                </a:solidFill>
              </a:defRPr>
            </a:lvl7pPr>
            <a:lvl8pPr>
              <a:defRPr sz="1875" b="1">
                <a:solidFill>
                  <a:srgbClr val="DB7900"/>
                </a:solidFill>
              </a:defRPr>
            </a:lvl8pPr>
            <a:lvl9pPr>
              <a:defRPr sz="1875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B7900"/>
                </a:solidFill>
              </a:defRPr>
            </a:pPr>
            <a:r>
              <a:rPr sz="1875" b="1">
                <a:solidFill>
                  <a:srgbClr val="DB7900"/>
                </a:solidFill>
              </a:rPr>
              <a:t>Depois da correção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D4788-B249-411E-9E26-6433E01C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438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  10 [P]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  /      \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5 [P]     15 [P]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/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1 [V]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6649E-A286-4EA6-8D3D-36E8EE9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445"/>
                </a:solidFill>
              </a:defRPr>
            </a:defPPr>
            <a:lvl1pPr>
              <a:defRPr sz="1800" b="0">
                <a:solidFill>
                  <a:srgbClr val="233445"/>
                </a:solidFill>
              </a:defRPr>
            </a:lvl1pPr>
            <a:lvl2pPr>
              <a:defRPr sz="1800" b="0">
                <a:solidFill>
                  <a:srgbClr val="233445"/>
                </a:solidFill>
              </a:defRPr>
            </a:lvl2pPr>
            <a:lvl3pPr>
              <a:defRPr sz="1800" b="0">
                <a:solidFill>
                  <a:srgbClr val="233445"/>
                </a:solidFill>
              </a:defRPr>
            </a:lvl3pPr>
            <a:lvl4pPr>
              <a:defRPr sz="1800" b="0">
                <a:solidFill>
                  <a:srgbClr val="233445"/>
                </a:solidFill>
              </a:defRPr>
            </a:lvl4pPr>
            <a:lvl5pPr>
              <a:defRPr sz="1800" b="0">
                <a:solidFill>
                  <a:srgbClr val="233445"/>
                </a:solidFill>
              </a:defRPr>
            </a:lvl5pPr>
            <a:lvl6pPr>
              <a:defRPr sz="1800" b="0">
                <a:solidFill>
                  <a:srgbClr val="233445"/>
                </a:solidFill>
              </a:defRPr>
            </a:lvl6pPr>
            <a:lvl7pPr>
              <a:defRPr sz="1800" b="0">
                <a:solidFill>
                  <a:srgbClr val="233445"/>
                </a:solidFill>
              </a:defRPr>
            </a:lvl7pPr>
            <a:lvl8pPr>
              <a:defRPr sz="1800" b="0">
                <a:solidFill>
                  <a:srgbClr val="233445"/>
                </a:solidFill>
              </a:defRPr>
            </a:lvl8pPr>
            <a:lvl9pPr>
              <a:defRPr sz="1800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445"/>
                </a:solidFill>
              </a:defRPr>
            </a:pPr>
            <a:r>
              <a:rPr sz="1800" b="0">
                <a:solidFill>
                  <a:srgbClr val="233445"/>
                </a:solidFill>
              </a:rPr>
              <a:t>O pai e o tio eram vermelhos: ambos ficam pretos. A raiz permanece preta. Nenhuma rotação foi necessária nesse ajuste.</a:t>
            </a:r>
          </a:p>
        </p:txBody>
      </p:sp>
    </p:spTree>
    <p:extLst>
      <p:ext uri="{BB962C8B-B14F-4D97-AF65-F5344CB8AC3E}">
        <p14:creationId xmlns:p14="http://schemas.microsoft.com/office/powerpoint/2010/main" val="171941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C7B94-5D06-4D59-9584-4E6A8A10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Rubro-Negra: exemplo de rotação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A37D6-371C-4288-A28A-D423D85A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Inserções 30, 20 e 10. O pai é vermelho e o tio NIL é preto.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EAD56-F687-4670-AC88-07E0B39C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08  |  IMD0039 · Guilherme Soares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EB422-239D-4846-AB35-94D72126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F1CD2-10DA-461E-8B70-20FE24C6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30 [P]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/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20 [V]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/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10 [V]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3A3AB-336A-4412-B69F-62218AE3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Depois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10C09-2F1B-4B74-83A0-0B0EF6B7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  20 [P]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 /       \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10 [V]    30 [V]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59846-FFFA-4E34-B905-DEEEE54D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Recoloração e rotação à direita em 30 eliminam o par de nós vermelhos consecutivos. A ordem de busca é preservada.</a:t>
            </a:r>
          </a:p>
        </p:txBody>
      </p:sp>
    </p:spTree>
    <p:extLst>
      <p:ext uri="{BB962C8B-B14F-4D97-AF65-F5344CB8AC3E}">
        <p14:creationId xmlns:p14="http://schemas.microsoft.com/office/powerpoint/2010/main" val="16358253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C30CA-A617-464B-82A1-C526F002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Remoção e recuperação do balanceamento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40A5A-1ADE-4210-BC3C-3925B590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09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3E8A3-C566-4A62-AE7E-7DA70319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B7900"/>
                </a:solidFill>
              </a:defRPr>
            </a:defPPr>
            <a:lvl1pPr>
              <a:defRPr sz="1875" b="1">
                <a:solidFill>
                  <a:srgbClr val="DB7900"/>
                </a:solidFill>
              </a:defRPr>
            </a:lvl1pPr>
            <a:lvl2pPr>
              <a:defRPr sz="1875" b="1">
                <a:solidFill>
                  <a:srgbClr val="DB7900"/>
                </a:solidFill>
              </a:defRPr>
            </a:lvl2pPr>
            <a:lvl3pPr>
              <a:defRPr sz="1875" b="1">
                <a:solidFill>
                  <a:srgbClr val="DB7900"/>
                </a:solidFill>
              </a:defRPr>
            </a:lvl3pPr>
            <a:lvl4pPr>
              <a:defRPr sz="1875" b="1">
                <a:solidFill>
                  <a:srgbClr val="DB7900"/>
                </a:solidFill>
              </a:defRPr>
            </a:lvl4pPr>
            <a:lvl5pPr>
              <a:defRPr sz="1875" b="1">
                <a:solidFill>
                  <a:srgbClr val="DB7900"/>
                </a:solidFill>
              </a:defRPr>
            </a:lvl5pPr>
            <a:lvl6pPr>
              <a:defRPr sz="1875" b="1">
                <a:solidFill>
                  <a:srgbClr val="DB7900"/>
                </a:solidFill>
              </a:defRPr>
            </a:lvl6pPr>
            <a:lvl7pPr>
              <a:defRPr sz="1875" b="1">
                <a:solidFill>
                  <a:srgbClr val="DB7900"/>
                </a:solidFill>
              </a:defRPr>
            </a:lvl7pPr>
            <a:lvl8pPr>
              <a:defRPr sz="1875" b="1">
                <a:solidFill>
                  <a:srgbClr val="DB7900"/>
                </a:solidFill>
              </a:defRPr>
            </a:lvl8pPr>
            <a:lvl9pPr>
              <a:defRPr sz="1875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B7900"/>
                </a:solidFill>
              </a:defRPr>
            </a:pPr>
            <a:r>
              <a:rPr sz="1875" b="1">
                <a:solidFill>
                  <a:srgbClr val="DB7900"/>
                </a:solidFill>
              </a:rPr>
              <a:t>A remoção começa como em uma árvore de busca: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ADAF7-1C70-4354-936B-AA4DD299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Folha: o nó é retirado.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Um filho: o filho ocupa sua posição.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Dois filhos: substitui pelo sucessor em ordem e remove o sucessor.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50C2D-D9D7-4F4C-BE6E-35838F20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Depois da remoção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91674-3FFA-42BC-A879-442CC567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AVL: atualiza alturas e aplica rotações quando necessário.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Rubro-Negra: se um nó preto foi retirado, corrige cores e pode realizar rotações para restaurar a altura negra.</a:t>
            </a:r>
          </a:p>
        </p:txBody>
      </p:sp>
    </p:spTree>
    <p:extLst>
      <p:ext uri="{BB962C8B-B14F-4D97-AF65-F5344CB8AC3E}">
        <p14:creationId xmlns:p14="http://schemas.microsoft.com/office/powerpoint/2010/main" val="259892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2128C-DF62-48B2-82EC-961318CF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Execução real: AVL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8ED7A-076D-4F0A-B909-EE946336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Trecho da saída em resultados/demonstracao_avl.txt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3B94B-E77B-493E-9CA9-1A9C5046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10  |  IMD0039 · Guilherme Soares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8E9E3-A419-4804-BE27-8BFE08AF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Inserções 30, 20 e 10:  Inserido.  Inserido.  Inserido.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E2142-7F7E-493B-B0D0-80A6D5F4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Visualização após as inserções: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7B043-6E72-4198-B114-51B5FB0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30 (h=1)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20 (h=2)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10 (h=1)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22CEA-6D42-4D73-B835-DB1FB58E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Busca 20: Encontrado.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Remoção 30: Removido.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Percurso em ordem: 10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3F8EE-B4CB-4169-880D-9EA3E8B3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57585"/>
                </a:solidFill>
              </a:defRPr>
            </a:defPPr>
            <a:lvl1pPr>
              <a:defRPr sz="1575" b="0">
                <a:solidFill>
                  <a:srgbClr val="657585"/>
                </a:solidFill>
              </a:defRPr>
            </a:lvl1pPr>
            <a:lvl2pPr>
              <a:defRPr sz="1575" b="0">
                <a:solidFill>
                  <a:srgbClr val="657585"/>
                </a:solidFill>
              </a:defRPr>
            </a:lvl2pPr>
            <a:lvl3pPr>
              <a:defRPr sz="1575" b="0">
                <a:solidFill>
                  <a:srgbClr val="657585"/>
                </a:solidFill>
              </a:defRPr>
            </a:lvl3pPr>
            <a:lvl4pPr>
              <a:defRPr sz="1575" b="0">
                <a:solidFill>
                  <a:srgbClr val="657585"/>
                </a:solidFill>
              </a:defRPr>
            </a:lvl4pPr>
            <a:lvl5pPr>
              <a:defRPr sz="1575" b="0">
                <a:solidFill>
                  <a:srgbClr val="657585"/>
                </a:solidFill>
              </a:defRPr>
            </a:lvl5pPr>
            <a:lvl6pPr>
              <a:defRPr sz="1575" b="0">
                <a:solidFill>
                  <a:srgbClr val="657585"/>
                </a:solidFill>
              </a:defRPr>
            </a:lvl6pPr>
            <a:lvl7pPr>
              <a:defRPr sz="1575" b="0">
                <a:solidFill>
                  <a:srgbClr val="657585"/>
                </a:solidFill>
              </a:defRPr>
            </a:lvl7pPr>
            <a:lvl8pPr>
              <a:defRPr sz="1575" b="0">
                <a:solidFill>
                  <a:srgbClr val="657585"/>
                </a:solidFill>
              </a:defRPr>
            </a:lvl8pPr>
            <a:lvl9pPr>
              <a:defRPr sz="157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57585"/>
                </a:solidFill>
              </a:defRPr>
            </a:pPr>
            <a:r>
              <a:rPr sz="1575" b="0">
                <a:solidFill>
                  <a:srgbClr val="657585"/>
                </a:solidFill>
              </a:rPr>
              <a:t>Árvore deitada: filho direito acima da raiz.</a:t>
            </a:r>
          </a:p>
        </p:txBody>
      </p:sp>
    </p:spTree>
    <p:extLst>
      <p:ext uri="{BB962C8B-B14F-4D97-AF65-F5344CB8AC3E}">
        <p14:creationId xmlns:p14="http://schemas.microsoft.com/office/powerpoint/2010/main" val="2980415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73EB1-6368-40CC-824E-E6B8452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Execução real: Rubro-Negra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EC8EC-9168-4DE9-85B0-BF26D18F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Trecho da saída em resultados/demonstracao_rubro_negra.txt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693DD-E3BB-4A69-88E5-230109A6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11  |  IMD0039 · Guilherme Soares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9C62E-353B-4CDA-8412-6AEF9DEE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Inserções 30, 20 e 10:  Inserido.  Inserido.  Inserido.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82617-573C-4E65-9491-B7F9FBD9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Visualização após as inserções: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099C5-0ECA-4591-A0AF-E9E096A1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445"/>
                </a:solidFill>
              </a:defRPr>
            </a:defPPr>
            <a:lvl1pPr>
              <a:defRPr sz="2025" b="0">
                <a:solidFill>
                  <a:srgbClr val="233445"/>
                </a:solidFill>
              </a:defRPr>
            </a:lvl1pPr>
            <a:lvl2pPr>
              <a:defRPr sz="2025" b="0">
                <a:solidFill>
                  <a:srgbClr val="233445"/>
                </a:solidFill>
              </a:defRPr>
            </a:lvl2pPr>
            <a:lvl3pPr>
              <a:defRPr sz="2025" b="0">
                <a:solidFill>
                  <a:srgbClr val="233445"/>
                </a:solidFill>
              </a:defRPr>
            </a:lvl3pPr>
            <a:lvl4pPr>
              <a:defRPr sz="2025" b="0">
                <a:solidFill>
                  <a:srgbClr val="233445"/>
                </a:solidFill>
              </a:defRPr>
            </a:lvl4pPr>
            <a:lvl5pPr>
              <a:defRPr sz="2025" b="0">
                <a:solidFill>
                  <a:srgbClr val="233445"/>
                </a:solidFill>
              </a:defRPr>
            </a:lvl5pPr>
            <a:lvl6pPr>
              <a:defRPr sz="2025" b="0">
                <a:solidFill>
                  <a:srgbClr val="233445"/>
                </a:solidFill>
              </a:defRPr>
            </a:lvl6pPr>
            <a:lvl7pPr>
              <a:defRPr sz="2025" b="0">
                <a:solidFill>
                  <a:srgbClr val="233445"/>
                </a:solidFill>
              </a:defRPr>
            </a:lvl7pPr>
            <a:lvl8pPr>
              <a:defRPr sz="2025" b="0">
                <a:solidFill>
                  <a:srgbClr val="233445"/>
                </a:solidFill>
              </a:defRPr>
            </a:lvl8pPr>
            <a:lvl9pPr>
              <a:defRPr sz="20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30 [V]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20 [P]</a:t>
            </a:r>
          </a:p>
          <a:p xmlns:a="http://schemas.openxmlformats.org/drawingml/2006/main">
            <a:pPr>
              <a:defRPr sz="2025" b="0">
                <a:solidFill>
                  <a:srgbClr val="233445"/>
                </a:solidFill>
              </a:defRPr>
            </a:pPr>
            <a:r>
              <a:rPr sz="2025" b="0">
                <a:solidFill>
                  <a:srgbClr val="233445"/>
                </a:solidFill>
              </a:rPr>
              <a:t>    10 [V]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B644B-F52C-4E32-8F82-2E58578D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Busca 20: Encontrado.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Remoção 30: Removido.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Percurso em ordem: 10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4DFF6-821A-4846-B62B-709E192C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57585"/>
                </a:solidFill>
              </a:defRPr>
            </a:defPPr>
            <a:lvl1pPr>
              <a:defRPr sz="1650" b="0">
                <a:solidFill>
                  <a:srgbClr val="657585"/>
                </a:solidFill>
              </a:defRPr>
            </a:lvl1pPr>
            <a:lvl2pPr>
              <a:defRPr sz="1650" b="0">
                <a:solidFill>
                  <a:srgbClr val="657585"/>
                </a:solidFill>
              </a:defRPr>
            </a:lvl2pPr>
            <a:lvl3pPr>
              <a:defRPr sz="1650" b="0">
                <a:solidFill>
                  <a:srgbClr val="657585"/>
                </a:solidFill>
              </a:defRPr>
            </a:lvl3pPr>
            <a:lvl4pPr>
              <a:defRPr sz="1650" b="0">
                <a:solidFill>
                  <a:srgbClr val="657585"/>
                </a:solidFill>
              </a:defRPr>
            </a:lvl4pPr>
            <a:lvl5pPr>
              <a:defRPr sz="1650" b="0">
                <a:solidFill>
                  <a:srgbClr val="657585"/>
                </a:solidFill>
              </a:defRPr>
            </a:lvl5pPr>
            <a:lvl6pPr>
              <a:defRPr sz="1650" b="0">
                <a:solidFill>
                  <a:srgbClr val="657585"/>
                </a:solidFill>
              </a:defRPr>
            </a:lvl6pPr>
            <a:lvl7pPr>
              <a:defRPr sz="1650" b="0">
                <a:solidFill>
                  <a:srgbClr val="657585"/>
                </a:solidFill>
              </a:defRPr>
            </a:lvl7pPr>
            <a:lvl8pPr>
              <a:defRPr sz="1650" b="0">
                <a:solidFill>
                  <a:srgbClr val="657585"/>
                </a:solidFill>
              </a:defRPr>
            </a:lvl8pPr>
            <a:lvl9pPr>
              <a:defRPr sz="16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585"/>
                </a:solidFill>
              </a:defRPr>
            </a:pPr>
            <a:r>
              <a:rPr sz="1650" b="0">
                <a:solidFill>
                  <a:srgbClr val="657585"/>
                </a:solidFill>
              </a:rPr>
              <a:t>[P] preto   [V] vermelho</a:t>
            </a:r>
          </a:p>
        </p:txBody>
      </p:sp>
    </p:spTree>
    <p:extLst>
      <p:ext uri="{BB962C8B-B14F-4D97-AF65-F5344CB8AC3E}">
        <p14:creationId xmlns:p14="http://schemas.microsoft.com/office/powerpoint/2010/main" val="853980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E76B7-8D71-4A1C-9DFF-A394822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Testes: operações e situações de borda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50BCD-0565-4149-815F-BC750990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12  |  IMD0039 · Guilherme Soares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84A6B-11B1-4615-B1D9-AF2AA410A24A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76325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381625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Cenário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O que foi verificado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Vazia e um nó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Busca e remoção ausentes; inserir e remover o único nó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Inserção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Crescente, decrescente, embaralhada e duplicados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Remoção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Folha, um filho, dois filhos e ID inexistente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Sequência aleatória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20.000 operações por árvore, com semente 2026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08614-E79C-455A-B0B8-1A8F7E2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445"/>
                </a:solidFill>
              </a:defRPr>
            </a:defPPr>
            <a:lvl1pPr>
              <a:defRPr sz="1725" b="0">
                <a:solidFill>
                  <a:srgbClr val="233445"/>
                </a:solidFill>
              </a:defRPr>
            </a:lvl1pPr>
            <a:lvl2pPr>
              <a:defRPr sz="1725" b="0">
                <a:solidFill>
                  <a:srgbClr val="233445"/>
                </a:solidFill>
              </a:defRPr>
            </a:lvl2pPr>
            <a:lvl3pPr>
              <a:defRPr sz="1725" b="0">
                <a:solidFill>
                  <a:srgbClr val="233445"/>
                </a:solidFill>
              </a:defRPr>
            </a:lvl3pPr>
            <a:lvl4pPr>
              <a:defRPr sz="1725" b="0">
                <a:solidFill>
                  <a:srgbClr val="233445"/>
                </a:solidFill>
              </a:defRPr>
            </a:lvl4pPr>
            <a:lvl5pPr>
              <a:defRPr sz="1725" b="0">
                <a:solidFill>
                  <a:srgbClr val="233445"/>
                </a:solidFill>
              </a:defRPr>
            </a:lvl5pPr>
            <a:lvl6pPr>
              <a:defRPr sz="1725" b="0">
                <a:solidFill>
                  <a:srgbClr val="233445"/>
                </a:solidFill>
              </a:defRPr>
            </a:lvl6pPr>
            <a:lvl7pPr>
              <a:defRPr sz="1725" b="0">
                <a:solidFill>
                  <a:srgbClr val="233445"/>
                </a:solidFill>
              </a:defRPr>
            </a:lvl7pPr>
            <a:lvl8pPr>
              <a:defRPr sz="1725" b="0">
                <a:solidFill>
                  <a:srgbClr val="233445"/>
                </a:solidFill>
              </a:defRPr>
            </a:lvl8pPr>
            <a:lvl9pPr>
              <a:defRPr sz="17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As quatro situações de rotação da AVL também foram testadas separadamente.</a:t>
            </a:r>
          </a:p>
        </p:txBody>
      </p:sp>
    </p:spTree>
    <p:extLst>
      <p:ext uri="{BB962C8B-B14F-4D97-AF65-F5344CB8AC3E}">
        <p14:creationId xmlns:p14="http://schemas.microsoft.com/office/powerpoint/2010/main" val="19604558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55356-F1FF-482A-8462-BAC6ABD0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Testes: verificação após cada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37C19-BDFB-48F0-BEC2-A345EBB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13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0663-C5A2-49F6-9BA5-84FB9145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O percurso em ordem foi comparado com std::set, usado somente como referência dos testes.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2FBA9-E647-4CDE-B7C6-99131A89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B7900"/>
                </a:solidFill>
              </a:defRPr>
            </a:defPPr>
            <a:lvl1pPr>
              <a:defRPr sz="1875" b="1">
                <a:solidFill>
                  <a:srgbClr val="DB7900"/>
                </a:solidFill>
              </a:defRPr>
            </a:lvl1pPr>
            <a:lvl2pPr>
              <a:defRPr sz="1875" b="1">
                <a:solidFill>
                  <a:srgbClr val="DB7900"/>
                </a:solidFill>
              </a:defRPr>
            </a:lvl2pPr>
            <a:lvl3pPr>
              <a:defRPr sz="1875" b="1">
                <a:solidFill>
                  <a:srgbClr val="DB7900"/>
                </a:solidFill>
              </a:defRPr>
            </a:lvl3pPr>
            <a:lvl4pPr>
              <a:defRPr sz="1875" b="1">
                <a:solidFill>
                  <a:srgbClr val="DB7900"/>
                </a:solidFill>
              </a:defRPr>
            </a:lvl4pPr>
            <a:lvl5pPr>
              <a:defRPr sz="1875" b="1">
                <a:solidFill>
                  <a:srgbClr val="DB7900"/>
                </a:solidFill>
              </a:defRPr>
            </a:lvl5pPr>
            <a:lvl6pPr>
              <a:defRPr sz="1875" b="1">
                <a:solidFill>
                  <a:srgbClr val="DB7900"/>
                </a:solidFill>
              </a:defRPr>
            </a:lvl6pPr>
            <a:lvl7pPr>
              <a:defRPr sz="1875" b="1">
                <a:solidFill>
                  <a:srgbClr val="DB7900"/>
                </a:solidFill>
              </a:defRPr>
            </a:lvl7pPr>
            <a:lvl8pPr>
              <a:defRPr sz="1875" b="1">
                <a:solidFill>
                  <a:srgbClr val="DB7900"/>
                </a:solidFill>
              </a:defRPr>
            </a:lvl8pPr>
            <a:lvl9pPr>
              <a:defRPr sz="1875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B7900"/>
                </a:solidFill>
              </a:defRPr>
            </a:pPr>
            <a:r>
              <a:rPr sz="1875" b="1">
                <a:solidFill>
                  <a:srgbClr val="DB7900"/>
                </a:solidFill>
              </a:rPr>
              <a:t>AVL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A7B8E-1398-4BDE-9045-F11E474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Ordem de busca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Altura armazenada correta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Diferença de alturas ≤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8A53-C9E2-4D1A-91D3-79CEEDC7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B7900"/>
                </a:solidFill>
              </a:defRPr>
            </a:defPPr>
            <a:lvl1pPr>
              <a:defRPr sz="1875" b="1">
                <a:solidFill>
                  <a:srgbClr val="DB7900"/>
                </a:solidFill>
              </a:defRPr>
            </a:lvl1pPr>
            <a:lvl2pPr>
              <a:defRPr sz="1875" b="1">
                <a:solidFill>
                  <a:srgbClr val="DB7900"/>
                </a:solidFill>
              </a:defRPr>
            </a:lvl2pPr>
            <a:lvl3pPr>
              <a:defRPr sz="1875" b="1">
                <a:solidFill>
                  <a:srgbClr val="DB7900"/>
                </a:solidFill>
              </a:defRPr>
            </a:lvl3pPr>
            <a:lvl4pPr>
              <a:defRPr sz="1875" b="1">
                <a:solidFill>
                  <a:srgbClr val="DB7900"/>
                </a:solidFill>
              </a:defRPr>
            </a:lvl4pPr>
            <a:lvl5pPr>
              <a:defRPr sz="1875" b="1">
                <a:solidFill>
                  <a:srgbClr val="DB7900"/>
                </a:solidFill>
              </a:defRPr>
            </a:lvl5pPr>
            <a:lvl6pPr>
              <a:defRPr sz="1875" b="1">
                <a:solidFill>
                  <a:srgbClr val="DB7900"/>
                </a:solidFill>
              </a:defRPr>
            </a:lvl6pPr>
            <a:lvl7pPr>
              <a:defRPr sz="1875" b="1">
                <a:solidFill>
                  <a:srgbClr val="DB7900"/>
                </a:solidFill>
              </a:defRPr>
            </a:lvl7pPr>
            <a:lvl8pPr>
              <a:defRPr sz="1875" b="1">
                <a:solidFill>
                  <a:srgbClr val="DB7900"/>
                </a:solidFill>
              </a:defRPr>
            </a:lvl8pPr>
            <a:lvl9pPr>
              <a:defRPr sz="1875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B7900"/>
                </a:solidFill>
              </a:defRPr>
            </a:pPr>
            <a:r>
              <a:rPr sz="1875" b="1">
                <a:solidFill>
                  <a:srgbClr val="DB7900"/>
                </a:solidFill>
              </a:rPr>
              <a:t>Rubro-Negra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B3AC5-3B86-488A-B13B-A3AC2402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Ordem e ponteiros dos pais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Raiz e sentinela pretas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Sem vermelho com filho vermelho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Mesma altura negra por caminho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5EF12-D703-49C6-92AA-CBD7F7AC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445"/>
                </a:solidFill>
              </a:defRPr>
            </a:defPPr>
            <a:lvl1pPr>
              <a:defRPr sz="1725" b="0">
                <a:solidFill>
                  <a:srgbClr val="233445"/>
                </a:solidFill>
              </a:defRPr>
            </a:lvl1pPr>
            <a:lvl2pPr>
              <a:defRPr sz="1725" b="0">
                <a:solidFill>
                  <a:srgbClr val="233445"/>
                </a:solidFill>
              </a:defRPr>
            </a:lvl2pPr>
            <a:lvl3pPr>
              <a:defRPr sz="1725" b="0">
                <a:solidFill>
                  <a:srgbClr val="233445"/>
                </a:solidFill>
              </a:defRPr>
            </a:lvl3pPr>
            <a:lvl4pPr>
              <a:defRPr sz="1725" b="0">
                <a:solidFill>
                  <a:srgbClr val="233445"/>
                </a:solidFill>
              </a:defRPr>
            </a:lvl4pPr>
            <a:lvl5pPr>
              <a:defRPr sz="1725" b="0">
                <a:solidFill>
                  <a:srgbClr val="233445"/>
                </a:solidFill>
              </a:defRPr>
            </a:lvl5pPr>
            <a:lvl6pPr>
              <a:defRPr sz="1725" b="0">
                <a:solidFill>
                  <a:srgbClr val="233445"/>
                </a:solidFill>
              </a:defRPr>
            </a:lvl6pPr>
            <a:lvl7pPr>
              <a:defRPr sz="1725" b="0">
                <a:solidFill>
                  <a:srgbClr val="233445"/>
                </a:solidFill>
              </a:defRPr>
            </a:lvl7pPr>
            <a:lvl8pPr>
              <a:defRPr sz="1725" b="0">
                <a:solidFill>
                  <a:srgbClr val="233445"/>
                </a:solidFill>
              </a:defRPr>
            </a:lvl8pPr>
            <a:lvl9pPr>
              <a:defRPr sz="17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Resultado: todos os testes passaram, inclusive com verificadores de memória e comportamento indefinido.</a:t>
            </a:r>
          </a:p>
        </p:txBody>
      </p:sp>
    </p:spTree>
    <p:extLst>
      <p:ext uri="{BB962C8B-B14F-4D97-AF65-F5344CB8AC3E}">
        <p14:creationId xmlns:p14="http://schemas.microsoft.com/office/powerpoint/2010/main" val="4064078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2B5FA-BCAD-4637-8991-069622E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Metodologia da comparação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54F34-227A-4010-A54E-A59EBDEC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14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581B5-BC30-40DF-9FEA-21E892E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Em cada cenário, as duas árvores receberam exatamente as mesmas operações: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7F68B-4713-42D4-AE35-78376C4C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B7900"/>
                </a:solidFill>
              </a:defRPr>
            </a:defPPr>
            <a:lvl1pPr>
              <a:defRPr sz="2250" b="1">
                <a:solidFill>
                  <a:srgbClr val="DB7900"/>
                </a:solidFill>
              </a:defRPr>
            </a:lvl1pPr>
            <a:lvl2pPr>
              <a:defRPr sz="2250" b="1">
                <a:solidFill>
                  <a:srgbClr val="DB7900"/>
                </a:solidFill>
              </a:defRPr>
            </a:lvl2pPr>
            <a:lvl3pPr>
              <a:defRPr sz="2250" b="1">
                <a:solidFill>
                  <a:srgbClr val="DB7900"/>
                </a:solidFill>
              </a:defRPr>
            </a:lvl3pPr>
            <a:lvl4pPr>
              <a:defRPr sz="2250" b="1">
                <a:solidFill>
                  <a:srgbClr val="DB7900"/>
                </a:solidFill>
              </a:defRPr>
            </a:lvl4pPr>
            <a:lvl5pPr>
              <a:defRPr sz="2250" b="1">
                <a:solidFill>
                  <a:srgbClr val="DB7900"/>
                </a:solidFill>
              </a:defRPr>
            </a:lvl5pPr>
            <a:lvl6pPr>
              <a:defRPr sz="2250" b="1">
                <a:solidFill>
                  <a:srgbClr val="DB7900"/>
                </a:solidFill>
              </a:defRPr>
            </a:lvl6pPr>
            <a:lvl7pPr>
              <a:defRPr sz="2250" b="1">
                <a:solidFill>
                  <a:srgbClr val="DB7900"/>
                </a:solidFill>
              </a:defRPr>
            </a:lvl7pPr>
            <a:lvl8pPr>
              <a:defRPr sz="2250" b="1">
                <a:solidFill>
                  <a:srgbClr val="DB7900"/>
                </a:solidFill>
              </a:defRPr>
            </a:lvl8pPr>
            <a:lvl9pPr>
              <a:defRPr sz="225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B7900"/>
                </a:solidFill>
              </a:defRPr>
            </a:pPr>
            <a:r>
              <a:rPr sz="2250" b="1">
                <a:solidFill>
                  <a:srgbClr val="DB7900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3349D-CA3D-4D14-B7F4-20D77412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Inserir 1.000 IDs: em ordem crescente, decrescente ou embaralhada (semente 42).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F5B22-C9E7-4EF3-8C14-AB3AC93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B7900"/>
                </a:solidFill>
              </a:defRPr>
            </a:defPPr>
            <a:lvl1pPr>
              <a:defRPr sz="2250" b="1">
                <a:solidFill>
                  <a:srgbClr val="DB7900"/>
                </a:solidFill>
              </a:defRPr>
            </a:lvl1pPr>
            <a:lvl2pPr>
              <a:defRPr sz="2250" b="1">
                <a:solidFill>
                  <a:srgbClr val="DB7900"/>
                </a:solidFill>
              </a:defRPr>
            </a:lvl2pPr>
            <a:lvl3pPr>
              <a:defRPr sz="2250" b="1">
                <a:solidFill>
                  <a:srgbClr val="DB7900"/>
                </a:solidFill>
              </a:defRPr>
            </a:lvl3pPr>
            <a:lvl4pPr>
              <a:defRPr sz="2250" b="1">
                <a:solidFill>
                  <a:srgbClr val="DB7900"/>
                </a:solidFill>
              </a:defRPr>
            </a:lvl4pPr>
            <a:lvl5pPr>
              <a:defRPr sz="2250" b="1">
                <a:solidFill>
                  <a:srgbClr val="DB7900"/>
                </a:solidFill>
              </a:defRPr>
            </a:lvl5pPr>
            <a:lvl6pPr>
              <a:defRPr sz="2250" b="1">
                <a:solidFill>
                  <a:srgbClr val="DB7900"/>
                </a:solidFill>
              </a:defRPr>
            </a:lvl6pPr>
            <a:lvl7pPr>
              <a:defRPr sz="2250" b="1">
                <a:solidFill>
                  <a:srgbClr val="DB7900"/>
                </a:solidFill>
              </a:defRPr>
            </a:lvl7pPr>
            <a:lvl8pPr>
              <a:defRPr sz="2250" b="1">
                <a:solidFill>
                  <a:srgbClr val="DB7900"/>
                </a:solidFill>
              </a:defRPr>
            </a:lvl8pPr>
            <a:lvl9pPr>
              <a:defRPr sz="225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B7900"/>
                </a:solidFill>
              </a:defRPr>
            </a:pPr>
            <a:r>
              <a:rPr sz="2250" b="1">
                <a:solidFill>
                  <a:srgbClr val="DB790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41A94-C085-40D7-81EB-3DB0D18C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Medir altura, rotações e ajustes após as inserções.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08CBF-2ACC-45FE-9CDE-27490837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B7900"/>
                </a:solidFill>
              </a:defRPr>
            </a:defPPr>
            <a:lvl1pPr>
              <a:defRPr sz="2250" b="1">
                <a:solidFill>
                  <a:srgbClr val="DB7900"/>
                </a:solidFill>
              </a:defRPr>
            </a:lvl1pPr>
            <a:lvl2pPr>
              <a:defRPr sz="2250" b="1">
                <a:solidFill>
                  <a:srgbClr val="DB7900"/>
                </a:solidFill>
              </a:defRPr>
            </a:lvl2pPr>
            <a:lvl3pPr>
              <a:defRPr sz="2250" b="1">
                <a:solidFill>
                  <a:srgbClr val="DB7900"/>
                </a:solidFill>
              </a:defRPr>
            </a:lvl3pPr>
            <a:lvl4pPr>
              <a:defRPr sz="2250" b="1">
                <a:solidFill>
                  <a:srgbClr val="DB7900"/>
                </a:solidFill>
              </a:defRPr>
            </a:lvl4pPr>
            <a:lvl5pPr>
              <a:defRPr sz="2250" b="1">
                <a:solidFill>
                  <a:srgbClr val="DB7900"/>
                </a:solidFill>
              </a:defRPr>
            </a:lvl5pPr>
            <a:lvl6pPr>
              <a:defRPr sz="2250" b="1">
                <a:solidFill>
                  <a:srgbClr val="DB7900"/>
                </a:solidFill>
              </a:defRPr>
            </a:lvl6pPr>
            <a:lvl7pPr>
              <a:defRPr sz="2250" b="1">
                <a:solidFill>
                  <a:srgbClr val="DB7900"/>
                </a:solidFill>
              </a:defRPr>
            </a:lvl7pPr>
            <a:lvl8pPr>
              <a:defRPr sz="2250" b="1">
                <a:solidFill>
                  <a:srgbClr val="DB7900"/>
                </a:solidFill>
              </a:defRPr>
            </a:lvl8pPr>
            <a:lvl9pPr>
              <a:defRPr sz="225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B7900"/>
                </a:solidFill>
              </a:defRPr>
            </a:pPr>
            <a:r>
              <a:rPr sz="2250" b="1">
                <a:solidFill>
                  <a:srgbClr val="DB790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83A88-A0AE-4254-933C-84E9CB8A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Remover os primeiros 500 IDs da mesma sequência e medir novamente.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45405-8091-4899-9FBE-5AF1A3EB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57585"/>
                </a:solidFill>
              </a:defRPr>
            </a:defPPr>
            <a:lvl1pPr>
              <a:defRPr sz="1725" b="0">
                <a:solidFill>
                  <a:srgbClr val="657585"/>
                </a:solidFill>
              </a:defRPr>
            </a:lvl1pPr>
            <a:lvl2pPr>
              <a:defRPr sz="1725" b="0">
                <a:solidFill>
                  <a:srgbClr val="657585"/>
                </a:solidFill>
              </a:defRPr>
            </a:lvl2pPr>
            <a:lvl3pPr>
              <a:defRPr sz="1725" b="0">
                <a:solidFill>
                  <a:srgbClr val="657585"/>
                </a:solidFill>
              </a:defRPr>
            </a:lvl3pPr>
            <a:lvl4pPr>
              <a:defRPr sz="1725" b="0">
                <a:solidFill>
                  <a:srgbClr val="657585"/>
                </a:solidFill>
              </a:defRPr>
            </a:lvl4pPr>
            <a:lvl5pPr>
              <a:defRPr sz="1725" b="0">
                <a:solidFill>
                  <a:srgbClr val="657585"/>
                </a:solidFill>
              </a:defRPr>
            </a:lvl5pPr>
            <a:lvl6pPr>
              <a:defRPr sz="1725" b="0">
                <a:solidFill>
                  <a:srgbClr val="657585"/>
                </a:solidFill>
              </a:defRPr>
            </a:lvl6pPr>
            <a:lvl7pPr>
              <a:defRPr sz="1725" b="0">
                <a:solidFill>
                  <a:srgbClr val="657585"/>
                </a:solidFill>
              </a:defRPr>
            </a:lvl7pPr>
            <a:lvl8pPr>
              <a:defRPr sz="1725" b="0">
                <a:solidFill>
                  <a:srgbClr val="657585"/>
                </a:solidFill>
              </a:defRPr>
            </a:lvl8pPr>
            <a:lvl9pPr>
              <a:defRPr sz="17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585"/>
                </a:solidFill>
              </a:defRPr>
            </a:pPr>
            <a:r>
              <a:rPr sz="1725" b="0">
                <a:solidFill>
                  <a:srgbClr val="657585"/>
                </a:solidFill>
              </a:rPr>
              <a:t>Uma rotação dupla conta como duas. Os totais no CSV são acumulados.</a:t>
            </a:r>
          </a:p>
        </p:txBody>
      </p:sp>
    </p:spTree>
    <p:extLst>
      <p:ext uri="{BB962C8B-B14F-4D97-AF65-F5344CB8AC3E}">
        <p14:creationId xmlns:p14="http://schemas.microsoft.com/office/powerpoint/2010/main" val="657644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3DD6A-1887-45B7-8416-A900848B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Resultados após 1.000 inserções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D1CD7-2254-4845-A698-7B0DE746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Altura em nós; rotações acumuladas. Fonte: resultados/comparacao.csv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5337F-727B-444A-A2BD-6A50F8B6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15  |  IMD0039 · Guilherme Soares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A625D-9E7C-4F8D-BC9A-C612A495DA22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7632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2152650"/>
                <a:gridCol w="2152650"/>
                <a:gridCol w="2152650"/>
                <a:gridCol w="2152650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Cenário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Altura AVL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Altura RN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Rotações AVL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Rotações RN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Crescente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990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983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Decrescente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990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983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Embaralhado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662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564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F3E0F-20A3-439E-9553-0D5CA82D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Nas entradas ordenadas, a AVL ficou 7 níveis mais baixa. Na entrada embaralhada, as alturas empataram e a RN realizou 98 rotações a menos.</a:t>
            </a:r>
          </a:p>
        </p:txBody>
      </p:sp>
    </p:spTree>
    <p:extLst>
      <p:ext uri="{BB962C8B-B14F-4D97-AF65-F5344CB8AC3E}">
        <p14:creationId xmlns:p14="http://schemas.microsoft.com/office/powerpoint/2010/main" val="18158061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74E19-C6B1-4A19-B019-FD2DA277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Resultados após as 500 remoções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090FA-DA9C-4CC2-9AB0-A924FBF3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85"/>
                </a:solidFill>
              </a:defRPr>
            </a:defPPr>
            <a:lvl1pPr>
              <a:defRPr sz="1350" b="0">
                <a:solidFill>
                  <a:srgbClr val="657585"/>
                </a:solidFill>
              </a:defRPr>
            </a:lvl1pPr>
            <a:lvl2pPr>
              <a:defRPr sz="1350" b="0">
                <a:solidFill>
                  <a:srgbClr val="657585"/>
                </a:solidFill>
              </a:defRPr>
            </a:lvl2pPr>
            <a:lvl3pPr>
              <a:defRPr sz="1350" b="0">
                <a:solidFill>
                  <a:srgbClr val="657585"/>
                </a:solidFill>
              </a:defRPr>
            </a:lvl3pPr>
            <a:lvl4pPr>
              <a:defRPr sz="1350" b="0">
                <a:solidFill>
                  <a:srgbClr val="657585"/>
                </a:solidFill>
              </a:defRPr>
            </a:lvl4pPr>
            <a:lvl5pPr>
              <a:defRPr sz="1350" b="0">
                <a:solidFill>
                  <a:srgbClr val="657585"/>
                </a:solidFill>
              </a:defRPr>
            </a:lvl5pPr>
            <a:lvl6pPr>
              <a:defRPr sz="1350" b="0">
                <a:solidFill>
                  <a:srgbClr val="657585"/>
                </a:solidFill>
              </a:defRPr>
            </a:lvl6pPr>
            <a:lvl7pPr>
              <a:defRPr sz="1350" b="0">
                <a:solidFill>
                  <a:srgbClr val="657585"/>
                </a:solidFill>
              </a:defRPr>
            </a:lvl7pPr>
            <a:lvl8pPr>
              <a:defRPr sz="1350" b="0">
                <a:solidFill>
                  <a:srgbClr val="657585"/>
                </a:solidFill>
              </a:defRPr>
            </a:lvl8pPr>
            <a:lvl9pPr>
              <a:defRPr sz="1350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5"/>
                </a:solidFill>
              </a:defRPr>
            </a:pPr>
            <a:r>
              <a:rPr sz="1350" b="0">
                <a:solidFill>
                  <a:srgbClr val="657585"/>
                </a:solidFill>
              </a:rPr>
              <a:t>Rotações na tabela incluem inserções e remoções. Fonte: resultados/comparacao.csv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04F51-FDBF-47BC-9CFA-A00AC97C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16  |  IMD0039 · Guilherme Soares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9F224-9ECF-4A3A-A180-53BC9EBE7B73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7632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2152650"/>
                <a:gridCol w="2152650"/>
                <a:gridCol w="2152650"/>
                <a:gridCol w="2152650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Cenário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Altura AVL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Altura RN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Rotações AVL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447"/>
                          </a:solidFill>
                        </a:rPr>
                        <a:t>Rotações RN</a:t>
                      </a:r>
                    </a:p>
                  </a:txBody>
                  <a:tcPr marL="91440" marR="91440" marT="45720" marB="45720">
                    <a:solidFill>
                      <a:srgbClr val="DCE6E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Crescente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1238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1232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Decrescente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1238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1232</a:t>
                      </a:r>
                    </a:p>
                  </a:txBody>
                  <a:tcPr marL="91440" marR="91440" marT="45720" marB="45720">
                    <a:solidFill>
                      <a:srgbClr val="EFF3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Embaralhado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874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7"/>
                          </a:solidFill>
                        </a:rPr>
                        <a:t>790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22AB8-FD59-4A92-BD43-FDC07884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Somente nas remoções: 248 rotações AVL e 249 RN nos cenários ordenados; 212 AVL e 226 RN no embaralhado.</a:t>
            </a:r>
          </a:p>
        </p:txBody>
      </p:sp>
    </p:spTree>
    <p:extLst>
      <p:ext uri="{BB962C8B-B14F-4D97-AF65-F5344CB8AC3E}">
        <p14:creationId xmlns:p14="http://schemas.microsoft.com/office/powerpoint/2010/main" val="5199021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D774B-8350-4955-8455-1074AFC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Ajustes e interpretação dos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F4B40-0BCC-4D31-A65F-A12DA0FB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17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F22F6-7711-43B0-A124-8156338F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As estruturas mantiveram alturas pequenas nos cenários testados. A AVL foi mais baixa nas entradas ordenadas; ambas empataram em altura na sequência embaralhada.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29719-8AB3-4EA2-A70A-AD8FC755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O programa também registra ajustes, mas com definições diferentes: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AB16C-0F5A-4BA1-A137-B6DF85FA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AVL: número de nós que precisaram de rebalanceamento.</a:t>
            </a:r>
          </a:p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Rubro-Negra: mudanças efetivas de cor.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B4819-8917-49B5-A183-9EA7C59F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445"/>
                </a:solidFill>
              </a:defRPr>
            </a:defPPr>
            <a:lvl1pPr>
              <a:defRPr sz="1800" b="0">
                <a:solidFill>
                  <a:srgbClr val="233445"/>
                </a:solidFill>
              </a:defRPr>
            </a:lvl1pPr>
            <a:lvl2pPr>
              <a:defRPr sz="1800" b="0">
                <a:solidFill>
                  <a:srgbClr val="233445"/>
                </a:solidFill>
              </a:defRPr>
            </a:lvl2pPr>
            <a:lvl3pPr>
              <a:defRPr sz="1800" b="0">
                <a:solidFill>
                  <a:srgbClr val="233445"/>
                </a:solidFill>
              </a:defRPr>
            </a:lvl3pPr>
            <a:lvl4pPr>
              <a:defRPr sz="1800" b="0">
                <a:solidFill>
                  <a:srgbClr val="233445"/>
                </a:solidFill>
              </a:defRPr>
            </a:lvl4pPr>
            <a:lvl5pPr>
              <a:defRPr sz="1800" b="0">
                <a:solidFill>
                  <a:srgbClr val="233445"/>
                </a:solidFill>
              </a:defRPr>
            </a:lvl5pPr>
            <a:lvl6pPr>
              <a:defRPr sz="1800" b="0">
                <a:solidFill>
                  <a:srgbClr val="233445"/>
                </a:solidFill>
              </a:defRPr>
            </a:lvl6pPr>
            <a:lvl7pPr>
              <a:defRPr sz="1800" b="0">
                <a:solidFill>
                  <a:srgbClr val="233445"/>
                </a:solidFill>
              </a:defRPr>
            </a:lvl7pPr>
            <a:lvl8pPr>
              <a:defRPr sz="1800" b="0">
                <a:solidFill>
                  <a:srgbClr val="233445"/>
                </a:solidFill>
              </a:defRPr>
            </a:lvl8pPr>
            <a:lvl9pPr>
              <a:defRPr sz="1800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445"/>
                </a:solidFill>
              </a:defRPr>
            </a:pPr>
            <a:r>
              <a:rPr sz="1800" b="0">
                <a:solidFill>
                  <a:srgbClr val="233445"/>
                </a:solidFill>
              </a:rPr>
              <a:t>Por exemplo, após inserções embaralhadas: 444 rebalanceamentos AVL e 2.313 mudanças de cor RN. Esses números não representam o mesmo tipo de operação e não devem ser comparados como custo direto.</a:t>
            </a:r>
          </a:p>
        </p:txBody>
      </p:sp>
    </p:spTree>
    <p:extLst>
      <p:ext uri="{BB962C8B-B14F-4D97-AF65-F5344CB8AC3E}">
        <p14:creationId xmlns:p14="http://schemas.microsoft.com/office/powerpoint/2010/main" val="18330872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1C2AA-6391-4309-9A1D-84A19ACF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Recomendação para o cenário investigado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C3910-1210-4166-8BD1-EEDC8B1D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18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F8136-5173-417A-B7B3-6030743C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A3A"/>
                </a:solidFill>
              </a:defRPr>
            </a:defPPr>
            <a:lvl1pPr>
              <a:defRPr sz="2100" b="1">
                <a:solidFill>
                  <a:srgbClr val="172A3A"/>
                </a:solidFill>
              </a:defRPr>
            </a:lvl1pPr>
            <a:lvl2pPr>
              <a:defRPr sz="2100" b="1">
                <a:solidFill>
                  <a:srgbClr val="172A3A"/>
                </a:solidFill>
              </a:defRPr>
            </a:lvl2pPr>
            <a:lvl3pPr>
              <a:defRPr sz="2100" b="1">
                <a:solidFill>
                  <a:srgbClr val="172A3A"/>
                </a:solidFill>
              </a:defRPr>
            </a:lvl3pPr>
            <a:lvl4pPr>
              <a:defRPr sz="2100" b="1">
                <a:solidFill>
                  <a:srgbClr val="172A3A"/>
                </a:solidFill>
              </a:defRPr>
            </a:lvl4pPr>
            <a:lvl5pPr>
              <a:defRPr sz="2100" b="1">
                <a:solidFill>
                  <a:srgbClr val="172A3A"/>
                </a:solidFill>
              </a:defRPr>
            </a:lvl5pPr>
            <a:lvl6pPr>
              <a:defRPr sz="2100" b="1">
                <a:solidFill>
                  <a:srgbClr val="172A3A"/>
                </a:solidFill>
              </a:defRPr>
            </a:lvl6pPr>
            <a:lvl7pPr>
              <a:defRPr sz="2100" b="1">
                <a:solidFill>
                  <a:srgbClr val="172A3A"/>
                </a:solidFill>
              </a:defRPr>
            </a:lvl7pPr>
            <a:lvl8pPr>
              <a:defRPr sz="2100" b="1">
                <a:solidFill>
                  <a:srgbClr val="172A3A"/>
                </a:solidFill>
              </a:defRPr>
            </a:lvl8pPr>
            <a:lvl9pPr>
              <a:defRPr sz="21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A3A"/>
                </a:solidFill>
              </a:defRPr>
            </a:pPr>
            <a:r>
              <a:rPr sz="2100" b="1">
                <a:solidFill>
                  <a:srgbClr val="172A3A"/>
                </a:solidFill>
              </a:rPr>
              <a:t>Escolha proposta: AVL, se a prioridade for manter caminhos de busca curtos mesmo com IDs chegando em ordem.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C55A0-F284-4216-8EB9-A544752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Evidência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02C23-3947-467E-9E98-A065F51F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Após as inserções ordenadas, a altura foi 10 na AVL e 17 na RN; após as remoções, 10 e 15.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DA031-A51C-4C6D-977C-350DC25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Alternativa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691FB-659A-4D88-A078-A9B02AF9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445"/>
                </a:solidFill>
              </a:defRPr>
            </a:defPPr>
            <a:lvl1pPr>
              <a:defRPr sz="1875" b="0">
                <a:solidFill>
                  <a:srgbClr val="233445"/>
                </a:solidFill>
              </a:defRPr>
            </a:lvl1pPr>
            <a:lvl2pPr>
              <a:defRPr sz="1875" b="0">
                <a:solidFill>
                  <a:srgbClr val="233445"/>
                </a:solidFill>
              </a:defRPr>
            </a:lvl2pPr>
            <a:lvl3pPr>
              <a:defRPr sz="1875" b="0">
                <a:solidFill>
                  <a:srgbClr val="233445"/>
                </a:solidFill>
              </a:defRPr>
            </a:lvl3pPr>
            <a:lvl4pPr>
              <a:defRPr sz="1875" b="0">
                <a:solidFill>
                  <a:srgbClr val="233445"/>
                </a:solidFill>
              </a:defRPr>
            </a:lvl4pPr>
            <a:lvl5pPr>
              <a:defRPr sz="1875" b="0">
                <a:solidFill>
                  <a:srgbClr val="233445"/>
                </a:solidFill>
              </a:defRPr>
            </a:lvl5pPr>
            <a:lvl6pPr>
              <a:defRPr sz="1875" b="0">
                <a:solidFill>
                  <a:srgbClr val="233445"/>
                </a:solidFill>
              </a:defRPr>
            </a:lvl6pPr>
            <a:lvl7pPr>
              <a:defRPr sz="1875" b="0">
                <a:solidFill>
                  <a:srgbClr val="233445"/>
                </a:solidFill>
              </a:defRPr>
            </a:lvl7pPr>
            <a:lvl8pPr>
              <a:defRPr sz="1875" b="0">
                <a:solidFill>
                  <a:srgbClr val="233445"/>
                </a:solidFill>
              </a:defRPr>
            </a:lvl8pPr>
            <a:lvl9pPr>
              <a:defRPr sz="187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445"/>
                </a:solidFill>
              </a:defRPr>
            </a:pPr>
            <a:r>
              <a:rPr sz="1875" b="0">
                <a:solidFill>
                  <a:srgbClr val="233445"/>
                </a:solidFill>
              </a:rPr>
              <a:t>A RN teve menos rotações acumuladas nos três cenários, embora nas remoções isoladas tenha feito uma ou mais rotações.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7ACFE-EB0F-4557-BA1B-07379C3A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445"/>
                </a:solidFill>
              </a:defRPr>
            </a:defPPr>
            <a:lvl1pPr>
              <a:defRPr sz="1725" b="0">
                <a:solidFill>
                  <a:srgbClr val="233445"/>
                </a:solidFill>
              </a:defRPr>
            </a:lvl1pPr>
            <a:lvl2pPr>
              <a:defRPr sz="1725" b="0">
                <a:solidFill>
                  <a:srgbClr val="233445"/>
                </a:solidFill>
              </a:defRPr>
            </a:lvl2pPr>
            <a:lvl3pPr>
              <a:defRPr sz="1725" b="0">
                <a:solidFill>
                  <a:srgbClr val="233445"/>
                </a:solidFill>
              </a:defRPr>
            </a:lvl3pPr>
            <a:lvl4pPr>
              <a:defRPr sz="1725" b="0">
                <a:solidFill>
                  <a:srgbClr val="233445"/>
                </a:solidFill>
              </a:defRPr>
            </a:lvl4pPr>
            <a:lvl5pPr>
              <a:defRPr sz="1725" b="0">
                <a:solidFill>
                  <a:srgbClr val="233445"/>
                </a:solidFill>
              </a:defRPr>
            </a:lvl5pPr>
            <a:lvl6pPr>
              <a:defRPr sz="1725" b="0">
                <a:solidFill>
                  <a:srgbClr val="233445"/>
                </a:solidFill>
              </a:defRPr>
            </a:lvl6pPr>
            <a:lvl7pPr>
              <a:defRPr sz="1725" b="0">
                <a:solidFill>
                  <a:srgbClr val="233445"/>
                </a:solidFill>
              </a:defRPr>
            </a:lvl7pPr>
            <a:lvl8pPr>
              <a:defRPr sz="1725" b="0">
                <a:solidFill>
                  <a:srgbClr val="233445"/>
                </a:solidFill>
              </a:defRPr>
            </a:lvl8pPr>
            <a:lvl9pPr>
              <a:defRPr sz="17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Ambas têm operações O(log n). As rotações, isoladamente, não determinam o tempo de execução.</a:t>
            </a:r>
          </a:p>
        </p:txBody>
      </p:sp>
    </p:spTree>
    <p:extLst>
      <p:ext uri="{BB962C8B-B14F-4D97-AF65-F5344CB8AC3E}">
        <p14:creationId xmlns:p14="http://schemas.microsoft.com/office/powerpoint/2010/main" val="18489052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19EB-F761-4EEE-9B81-A06B4DB5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A3A"/>
                </a:solidFill>
              </a:defRPr>
            </a:defPPr>
            <a:lvl1pPr>
              <a:defRPr sz="2700" b="1">
                <a:solidFill>
                  <a:srgbClr val="172A3A"/>
                </a:solidFill>
              </a:defRPr>
            </a:lvl1pPr>
            <a:lvl2pPr>
              <a:defRPr sz="2700" b="1">
                <a:solidFill>
                  <a:srgbClr val="172A3A"/>
                </a:solidFill>
              </a:defRPr>
            </a:lvl2pPr>
            <a:lvl3pPr>
              <a:defRPr sz="2700" b="1">
                <a:solidFill>
                  <a:srgbClr val="172A3A"/>
                </a:solidFill>
              </a:defRPr>
            </a:lvl3pPr>
            <a:lvl4pPr>
              <a:defRPr sz="2700" b="1">
                <a:solidFill>
                  <a:srgbClr val="172A3A"/>
                </a:solidFill>
              </a:defRPr>
            </a:lvl4pPr>
            <a:lvl5pPr>
              <a:defRPr sz="2700" b="1">
                <a:solidFill>
                  <a:srgbClr val="172A3A"/>
                </a:solidFill>
              </a:defRPr>
            </a:lvl5pPr>
            <a:lvl6pPr>
              <a:defRPr sz="2700" b="1">
                <a:solidFill>
                  <a:srgbClr val="172A3A"/>
                </a:solidFill>
              </a:defRPr>
            </a:lvl6pPr>
            <a:lvl7pPr>
              <a:defRPr sz="2700" b="1">
                <a:solidFill>
                  <a:srgbClr val="172A3A"/>
                </a:solidFill>
              </a:defRPr>
            </a:lvl7pPr>
            <a:lvl8pPr>
              <a:defRPr sz="2700" b="1">
                <a:solidFill>
                  <a:srgbClr val="172A3A"/>
                </a:solidFill>
              </a:defRPr>
            </a:lvl8pPr>
            <a:lvl9pPr>
              <a:defRPr sz="2700" b="1">
                <a:solidFill>
                  <a:srgbClr val="172A3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</a:defRPr>
            </a:pPr>
            <a:r>
              <a:rPr sz="2700" b="1">
                <a:solidFill>
                  <a:srgbClr val="172A3A"/>
                </a:solidFill>
              </a:rPr>
              <a:t>Limitações e referências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BF0C9-81C9-49E1-8D93-0622B83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585"/>
                </a:solidFill>
              </a:defRPr>
            </a:defPPr>
            <a:lvl1pPr>
              <a:defRPr sz="1125" b="0">
                <a:solidFill>
                  <a:srgbClr val="657585"/>
                </a:solidFill>
              </a:defRPr>
            </a:lvl1pPr>
            <a:lvl2pPr>
              <a:defRPr sz="1125" b="0">
                <a:solidFill>
                  <a:srgbClr val="657585"/>
                </a:solidFill>
              </a:defRPr>
            </a:lvl2pPr>
            <a:lvl3pPr>
              <a:defRPr sz="1125" b="0">
                <a:solidFill>
                  <a:srgbClr val="657585"/>
                </a:solidFill>
              </a:defRPr>
            </a:lvl3pPr>
            <a:lvl4pPr>
              <a:defRPr sz="1125" b="0">
                <a:solidFill>
                  <a:srgbClr val="657585"/>
                </a:solidFill>
              </a:defRPr>
            </a:lvl4pPr>
            <a:lvl5pPr>
              <a:defRPr sz="1125" b="0">
                <a:solidFill>
                  <a:srgbClr val="657585"/>
                </a:solidFill>
              </a:defRPr>
            </a:lvl5pPr>
            <a:lvl6pPr>
              <a:defRPr sz="1125" b="0">
                <a:solidFill>
                  <a:srgbClr val="657585"/>
                </a:solidFill>
              </a:defRPr>
            </a:lvl6pPr>
            <a:lvl7pPr>
              <a:defRPr sz="1125" b="0">
                <a:solidFill>
                  <a:srgbClr val="657585"/>
                </a:solidFill>
              </a:defRPr>
            </a:lvl7pPr>
            <a:lvl8pPr>
              <a:defRPr sz="1125" b="0">
                <a:solidFill>
                  <a:srgbClr val="657585"/>
                </a:solidFill>
              </a:defRPr>
            </a:lvl8pPr>
            <a:lvl9pPr>
              <a:defRPr sz="1125" b="0">
                <a:solidFill>
                  <a:srgbClr val="65758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5"/>
                </a:solidFill>
              </a:defRPr>
            </a:pPr>
            <a:r>
              <a:rPr sz="1125" b="0">
                <a:solidFill>
                  <a:srgbClr val="657585"/>
                </a:solidFill>
              </a:rPr>
              <a:t>19  |  IMD0039 · Guilherme Soares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0DB2C-8F8D-4844-9B3A-639E3FE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573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445"/>
                </a:solidFill>
              </a:defRPr>
            </a:defPPr>
            <a:lvl1pPr>
              <a:defRPr sz="1800" b="0">
                <a:solidFill>
                  <a:srgbClr val="233445"/>
                </a:solidFill>
              </a:defRPr>
            </a:lvl1pPr>
            <a:lvl2pPr>
              <a:defRPr sz="1800" b="0">
                <a:solidFill>
                  <a:srgbClr val="233445"/>
                </a:solidFill>
              </a:defRPr>
            </a:lvl2pPr>
            <a:lvl3pPr>
              <a:defRPr sz="1800" b="0">
                <a:solidFill>
                  <a:srgbClr val="233445"/>
                </a:solidFill>
              </a:defRPr>
            </a:lvl3pPr>
            <a:lvl4pPr>
              <a:defRPr sz="1800" b="0">
                <a:solidFill>
                  <a:srgbClr val="233445"/>
                </a:solidFill>
              </a:defRPr>
            </a:lvl4pPr>
            <a:lvl5pPr>
              <a:defRPr sz="1800" b="0">
                <a:solidFill>
                  <a:srgbClr val="233445"/>
                </a:solidFill>
              </a:defRPr>
            </a:lvl5pPr>
            <a:lvl6pPr>
              <a:defRPr sz="1800" b="0">
                <a:solidFill>
                  <a:srgbClr val="233445"/>
                </a:solidFill>
              </a:defRPr>
            </a:lvl6pPr>
            <a:lvl7pPr>
              <a:defRPr sz="1800" b="0">
                <a:solidFill>
                  <a:srgbClr val="233445"/>
                </a:solidFill>
              </a:defRPr>
            </a:lvl7pPr>
            <a:lvl8pPr>
              <a:defRPr sz="1800" b="0">
                <a:solidFill>
                  <a:srgbClr val="233445"/>
                </a:solidFill>
              </a:defRPr>
            </a:lvl8pPr>
            <a:lvl9pPr>
              <a:defRPr sz="1800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445"/>
                </a:solidFill>
              </a:defRPr>
            </a:pPr>
            <a:r>
              <a:rPr sz="1800" b="0">
                <a:solidFill>
                  <a:srgbClr val="233445"/>
                </a:solidFill>
              </a:rPr>
              <a:t>Os experimentos não medem tempo, memória nem tráfego real. A recomendação depende das sequências testadas; novos testes seriam necessários para produção.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4073B-6AA6-46E7-9478-D44385C6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Código, resultados e instruções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53CD7-75DA-4418-99FC-9DA93991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445"/>
                </a:solidFill>
              </a:defRPr>
            </a:defPPr>
            <a:lvl1pPr>
              <a:defRPr sz="1800" b="0">
                <a:solidFill>
                  <a:srgbClr val="233445"/>
                </a:solidFill>
              </a:defRPr>
            </a:lvl1pPr>
            <a:lvl2pPr>
              <a:defRPr sz="1800" b="0">
                <a:solidFill>
                  <a:srgbClr val="233445"/>
                </a:solidFill>
              </a:defRPr>
            </a:lvl2pPr>
            <a:lvl3pPr>
              <a:defRPr sz="1800" b="0">
                <a:solidFill>
                  <a:srgbClr val="233445"/>
                </a:solidFill>
              </a:defRPr>
            </a:lvl3pPr>
            <a:lvl4pPr>
              <a:defRPr sz="1800" b="0">
                <a:solidFill>
                  <a:srgbClr val="233445"/>
                </a:solidFill>
              </a:defRPr>
            </a:lvl4pPr>
            <a:lvl5pPr>
              <a:defRPr sz="1800" b="0">
                <a:solidFill>
                  <a:srgbClr val="233445"/>
                </a:solidFill>
              </a:defRPr>
            </a:lvl5pPr>
            <a:lvl6pPr>
              <a:defRPr sz="1800" b="0">
                <a:solidFill>
                  <a:srgbClr val="233445"/>
                </a:solidFill>
              </a:defRPr>
            </a:lvl6pPr>
            <a:lvl7pPr>
              <a:defRPr sz="1800" b="0">
                <a:solidFill>
                  <a:srgbClr val="233445"/>
                </a:solidFill>
              </a:defRPr>
            </a:lvl7pPr>
            <a:lvl8pPr>
              <a:defRPr sz="1800" b="0">
                <a:solidFill>
                  <a:srgbClr val="233445"/>
                </a:solidFill>
              </a:defRPr>
            </a:lvl8pPr>
            <a:lvl9pPr>
              <a:defRPr sz="1800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445"/>
                </a:solidFill>
              </a:defRPr>
            </a:pPr>
            <a:r>
              <a:rPr sz="1800" b="0">
                <a:solidFill>
                  <a:srgbClr val="233445"/>
                </a:solidFill>
              </a:rPr>
              <a:t>github.com/guilhermesoaresf/amazon-arvores-balanceadas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29919-EF0B-4423-8001-381E0B48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B7900"/>
                </a:solidFill>
              </a:defRPr>
            </a:defPPr>
            <a:lvl1pPr>
              <a:defRPr sz="1800" b="1">
                <a:solidFill>
                  <a:srgbClr val="DB7900"/>
                </a:solidFill>
              </a:defRPr>
            </a:lvl1pPr>
            <a:lvl2pPr>
              <a:defRPr sz="1800" b="1">
                <a:solidFill>
                  <a:srgbClr val="DB7900"/>
                </a:solidFill>
              </a:defRPr>
            </a:lvl2pPr>
            <a:lvl3pPr>
              <a:defRPr sz="1800" b="1">
                <a:solidFill>
                  <a:srgbClr val="DB7900"/>
                </a:solidFill>
              </a:defRPr>
            </a:lvl3pPr>
            <a:lvl4pPr>
              <a:defRPr sz="1800" b="1">
                <a:solidFill>
                  <a:srgbClr val="DB7900"/>
                </a:solidFill>
              </a:defRPr>
            </a:lvl4pPr>
            <a:lvl5pPr>
              <a:defRPr sz="1800" b="1">
                <a:solidFill>
                  <a:srgbClr val="DB7900"/>
                </a:solidFill>
              </a:defRPr>
            </a:lvl5pPr>
            <a:lvl6pPr>
              <a:defRPr sz="1800" b="1">
                <a:solidFill>
                  <a:srgbClr val="DB7900"/>
                </a:solidFill>
              </a:defRPr>
            </a:lvl6pPr>
            <a:lvl7pPr>
              <a:defRPr sz="1800" b="1">
                <a:solidFill>
                  <a:srgbClr val="DB7900"/>
                </a:solidFill>
              </a:defRPr>
            </a:lvl7pPr>
            <a:lvl8pPr>
              <a:defRPr sz="1800" b="1">
                <a:solidFill>
                  <a:srgbClr val="DB7900"/>
                </a:solidFill>
              </a:defRPr>
            </a:lvl8pPr>
            <a:lvl9pPr>
              <a:defRPr sz="1800" b="1">
                <a:solidFill>
                  <a:srgbClr val="DB790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B7900"/>
                </a:solidFill>
              </a:defRPr>
            </a:pPr>
            <a:r>
              <a:rPr sz="1800" b="1">
                <a:solidFill>
                  <a:srgbClr val="DB7900"/>
                </a:solidFill>
              </a:rPr>
              <a:t>Fontes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B7C92-54B1-4353-9479-0E69D30F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445"/>
                </a:solidFill>
              </a:defRPr>
            </a:defPPr>
            <a:lvl1pPr>
              <a:defRPr sz="1725" b="0">
                <a:solidFill>
                  <a:srgbClr val="233445"/>
                </a:solidFill>
              </a:defRPr>
            </a:lvl1pPr>
            <a:lvl2pPr>
              <a:defRPr sz="1725" b="0">
                <a:solidFill>
                  <a:srgbClr val="233445"/>
                </a:solidFill>
              </a:defRPr>
            </a:lvl2pPr>
            <a:lvl3pPr>
              <a:defRPr sz="1725" b="0">
                <a:solidFill>
                  <a:srgbClr val="233445"/>
                </a:solidFill>
              </a:defRPr>
            </a:lvl3pPr>
            <a:lvl4pPr>
              <a:defRPr sz="1725" b="0">
                <a:solidFill>
                  <a:srgbClr val="233445"/>
                </a:solidFill>
              </a:defRPr>
            </a:lvl4pPr>
            <a:lvl5pPr>
              <a:defRPr sz="1725" b="0">
                <a:solidFill>
                  <a:srgbClr val="233445"/>
                </a:solidFill>
              </a:defRPr>
            </a:lvl5pPr>
            <a:lvl6pPr>
              <a:defRPr sz="1725" b="0">
                <a:solidFill>
                  <a:srgbClr val="233445"/>
                </a:solidFill>
              </a:defRPr>
            </a:lvl6pPr>
            <a:lvl7pPr>
              <a:defRPr sz="1725" b="0">
                <a:solidFill>
                  <a:srgbClr val="233445"/>
                </a:solidFill>
              </a:defRPr>
            </a:lvl7pPr>
            <a:lvl8pPr>
              <a:defRPr sz="1725" b="0">
                <a:solidFill>
                  <a:srgbClr val="233445"/>
                </a:solidFill>
              </a:defRPr>
            </a:lvl8pPr>
            <a:lvl9pPr>
              <a:defRPr sz="1725" b="0">
                <a:solidFill>
                  <a:srgbClr val="23344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Enunciado IMD0039, Unidade II.</a:t>
            </a:r>
          </a:p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Cormen et al., Introduction to Algorithms, 3ª ed., capítulos 12 e 13.</a:t>
            </a:r>
          </a:p>
          <a:p xmlns:a="http://schemas.openxmlformats.org/drawingml/2006/main">
            <a:pPr>
              <a:defRPr sz="1725" b="0">
                <a:solidFill>
                  <a:srgbClr val="233445"/>
                </a:solidFill>
              </a:defRPr>
            </a:pPr>
            <a:r>
              <a:rPr sz="1725" b="0">
                <a:solidFill>
                  <a:srgbClr val="233445"/>
                </a:solidFill>
              </a:rPr>
              <a:t>Open Data Structures, capítulos 9 e 10: opendatastructures.org</a:t>
            </a:r>
          </a:p>
        </p:txBody>
      </p:sp>
    </p:spTree>
    <p:extLst>
      <p:ext uri="{BB962C8B-B14F-4D97-AF65-F5344CB8AC3E}">
        <p14:creationId xmlns:p14="http://schemas.microsoft.com/office/powerpoint/2010/main" val="898168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2026-10-29T00:00:05.8490000Z</dcterms:created>
  <dcterms:modified xsi:type="dcterms:W3CDTF">2026-10-29T00:00:05.8490000Z</dcterms:modified>
</coreProperties>
</file>