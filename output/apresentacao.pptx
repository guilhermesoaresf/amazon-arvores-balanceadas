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9969df4c9d4e84" /><Relationship Type="http://schemas.openxmlformats.org/officeDocument/2006/relationships/extended-properties" Target="/docProps/app.xml" Id="R344715f9603d4780" /><Relationship Type="http://schemas.openxmlformats.org/officeDocument/2006/relationships/officeDocument" Target="/ppt/presentation.xml" Id="R8e4c4e5753ef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1604bbe3c4510"/>
  </p:sldMasterIdLst>
  <p:notesMasterIdLst>
    <p:notesMasterId xmlns:r="http://schemas.openxmlformats.org/officeDocument/2006/relationships" r:id="Rb6b8170ff6c6416a"/>
  </p:notesMasterIdLst>
  <p:sldIdLst>
    <p:sldId xmlns:r="http://schemas.openxmlformats.org/officeDocument/2006/relationships" id="256" r:id="R53f90c87089a4692"/>
    <p:sldId xmlns:r="http://schemas.openxmlformats.org/officeDocument/2006/relationships" id="257" r:id="R143f550fa40e4000"/>
    <p:sldId xmlns:r="http://schemas.openxmlformats.org/officeDocument/2006/relationships" id="258" r:id="R81c6e32594404247"/>
    <p:sldId xmlns:r="http://schemas.openxmlformats.org/officeDocument/2006/relationships" id="259" r:id="Rf5e09d8ee6504617"/>
    <p:sldId xmlns:r="http://schemas.openxmlformats.org/officeDocument/2006/relationships" id="260" r:id="R4ec974bb32d1469d"/>
    <p:sldId xmlns:r="http://schemas.openxmlformats.org/officeDocument/2006/relationships" id="261" r:id="R8c65489f37164a23"/>
    <p:sldId xmlns:r="http://schemas.openxmlformats.org/officeDocument/2006/relationships" id="262" r:id="Rcb8ceb96112d4594"/>
    <p:sldId xmlns:r="http://schemas.openxmlformats.org/officeDocument/2006/relationships" id="263" r:id="R5ee47b9df3fe47f3"/>
    <p:sldId xmlns:r="http://schemas.openxmlformats.org/officeDocument/2006/relationships" id="264" r:id="R85d4ed898f8b40bd"/>
    <p:sldId xmlns:r="http://schemas.openxmlformats.org/officeDocument/2006/relationships" id="265" r:id="R5b51c4100e1e4ed0"/>
    <p:sldId xmlns:r="http://schemas.openxmlformats.org/officeDocument/2006/relationships" id="266" r:id="R924b5d3be1584fe1"/>
    <p:sldId xmlns:r="http://schemas.openxmlformats.org/officeDocument/2006/relationships" id="267" r:id="Ref89435a2e274382"/>
    <p:sldId xmlns:r="http://schemas.openxmlformats.org/officeDocument/2006/relationships" id="268" r:id="Rda32664d7b314a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62a169b9d54b41" /><Relationship Type="http://schemas.openxmlformats.org/officeDocument/2006/relationships/slideMaster" Target="/ppt/slideMasters/slideMaster1.xml" Id="R1c31604bbe3c4510" /><Relationship Type="http://schemas.openxmlformats.org/officeDocument/2006/relationships/notesMaster" Target="/ppt/notesMasters/notesMaster1.xml" Id="Rb6b8170ff6c6416a" /><Relationship Type="http://schemas.openxmlformats.org/officeDocument/2006/relationships/presProps" Target="/ppt/presProps.xml" Id="R17d349640dec4e0a" /><Relationship Type="http://schemas.openxmlformats.org/officeDocument/2006/relationships/tableStyles" Target="/ppt/tableStyles.xml" Id="Rd49162b8cdb742ac" /><Relationship Type="http://schemas.openxmlformats.org/officeDocument/2006/relationships/slide" Target="/ppt/slides/slide1.xml" Id="R53f90c87089a4692" /><Relationship Type="http://schemas.openxmlformats.org/officeDocument/2006/relationships/slide" Target="/ppt/slides/slide2.xml" Id="R143f550fa40e4000" /><Relationship Type="http://schemas.openxmlformats.org/officeDocument/2006/relationships/slide" Target="/ppt/slides/slide3.xml" Id="R81c6e32594404247" /><Relationship Type="http://schemas.openxmlformats.org/officeDocument/2006/relationships/slide" Target="/ppt/slides/slide4.xml" Id="Rf5e09d8ee6504617" /><Relationship Type="http://schemas.openxmlformats.org/officeDocument/2006/relationships/slide" Target="/ppt/slides/slide5.xml" Id="R4ec974bb32d1469d" /><Relationship Type="http://schemas.openxmlformats.org/officeDocument/2006/relationships/slide" Target="/ppt/slides/slide6.xml" Id="R8c65489f37164a23" /><Relationship Type="http://schemas.openxmlformats.org/officeDocument/2006/relationships/slide" Target="/ppt/slides/slide7.xml" Id="Rcb8ceb96112d4594" /><Relationship Type="http://schemas.openxmlformats.org/officeDocument/2006/relationships/slide" Target="/ppt/slides/slide8.xml" Id="R5ee47b9df3fe47f3" /><Relationship Type="http://schemas.openxmlformats.org/officeDocument/2006/relationships/slide" Target="/ppt/slides/slide9.xml" Id="R85d4ed898f8b40bd" /><Relationship Type="http://schemas.openxmlformats.org/officeDocument/2006/relationships/slide" Target="/ppt/slides/slide10.xml" Id="R5b51c4100e1e4ed0" /><Relationship Type="http://schemas.openxmlformats.org/officeDocument/2006/relationships/slide" Target="/ppt/slides/slide11.xml" Id="R924b5d3be1584fe1" /><Relationship Type="http://schemas.openxmlformats.org/officeDocument/2006/relationships/slide" Target="/ppt/slides/slide12.xml" Id="Ref89435a2e274382" /><Relationship Type="http://schemas.openxmlformats.org/officeDocument/2006/relationships/slide" Target="/ppt/slides/slide13.xml" Id="Rda32664d7b314a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c7a83240ed48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654ea0740f44cb" /><Relationship Type="http://schemas.openxmlformats.org/officeDocument/2006/relationships/notesMaster" Target="/ppt/notesMasters/notesMaster1.xml" Id="R13a67bdf23a4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9dea194a44598" /><Relationship Type="http://schemas.openxmlformats.org/officeDocument/2006/relationships/notesMaster" Target="/ppt/notesMasters/notesMaster1.xml" Id="R8f8eb23b4f1547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e397f33877443c" /><Relationship Type="http://schemas.openxmlformats.org/officeDocument/2006/relationships/notesMaster" Target="/ppt/notesMasters/notesMaster1.xml" Id="R864280aeed9440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234bfc259646c0" /><Relationship Type="http://schemas.openxmlformats.org/officeDocument/2006/relationships/notesMaster" Target="/ppt/notesMasters/notesMaster1.xml" Id="Rf3b2b941840d43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31f07efb74f60" /><Relationship Type="http://schemas.openxmlformats.org/officeDocument/2006/relationships/notesMaster" Target="/ppt/notesMasters/notesMaster1.xml" Id="R81a7092024e3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cf6c43a294231" /><Relationship Type="http://schemas.openxmlformats.org/officeDocument/2006/relationships/notesMaster" Target="/ppt/notesMasters/notesMaster1.xml" Id="R66a53548bfa34b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b4b5e82ce64d05" /><Relationship Type="http://schemas.openxmlformats.org/officeDocument/2006/relationships/notesMaster" Target="/ppt/notesMasters/notesMaster1.xml" Id="R564a59aadc314b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0c348e3f5f4792" /><Relationship Type="http://schemas.openxmlformats.org/officeDocument/2006/relationships/notesMaster" Target="/ppt/notesMasters/notesMaster1.xml" Id="R647a69131f5240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81a8cb53b049b5" /><Relationship Type="http://schemas.openxmlformats.org/officeDocument/2006/relationships/notesMaster" Target="/ppt/notesMasters/notesMaster1.xml" Id="R2b3723ea28c240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b94ec9c0b44ea0" /><Relationship Type="http://schemas.openxmlformats.org/officeDocument/2006/relationships/notesMaster" Target="/ppt/notesMasters/notesMaster1.xml" Id="R3e36dc015e9e4e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54ba99c12f4bf4" /><Relationship Type="http://schemas.openxmlformats.org/officeDocument/2006/relationships/notesMaster" Target="/ppt/notesMasters/notesMaster1.xml" Id="R49de191295a342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4947368fab49e2" /><Relationship Type="http://schemas.openxmlformats.org/officeDocument/2006/relationships/notesMaster" Target="/ppt/notesMasters/notesMaster1.xml" Id="R1050666d81604a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dd85390d9540e2" /><Relationship Type="http://schemas.openxmlformats.org/officeDocument/2006/relationships/notesMaster" Target="/ppt/notesMasters/notesMaster1.xml" Id="Ree82d48eb54a4d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bbd298ecc48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138b8bd9a48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9aa55ed9f44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f726f9ac442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7903fd8fe48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290d0eccb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EB6F2-DD5C-4385-9EB2-EBCB7E74A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B72CD6-BA74-4ACE-BD6F-37C9FB2020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DD0736-8420-4F50-B3C4-A62879C0E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265425-27DF-4DE1-A213-2C5981DDA9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4812EB-AD1E-43DD-8484-CDEF01CCF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E661B1-2BA8-4868-B552-DC47C5EE9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07F75E-DE07-4F95-A3D4-BC09CC6FA7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575225-7265-467B-BEA0-B6424BE36F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208705-9964-42EC-BAF5-508F05DE3F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C4EAFF-EB57-4753-9ECA-97A4F39557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fd0de4e67493d" /><Relationship Type="http://schemas.openxmlformats.org/officeDocument/2006/relationships/slideLayout" Target="/ppt/slideLayouts/slideLayout1.xml" Id="Re6bdff137dd94661" /><Relationship Type="http://schemas.openxmlformats.org/officeDocument/2006/relationships/slideLayout" Target="/ppt/slideLayouts/slideLayout2.xml" Id="R396761e77bc44968" /><Relationship Type="http://schemas.openxmlformats.org/officeDocument/2006/relationships/slideLayout" Target="/ppt/slideLayouts/slideLayout3.xml" Id="R3f4634e3fefb451f" /><Relationship Type="http://schemas.openxmlformats.org/officeDocument/2006/relationships/slideLayout" Target="/ppt/slideLayouts/slideLayout4.xml" Id="R95caf93e0fad43c8" /><Relationship Type="http://schemas.openxmlformats.org/officeDocument/2006/relationships/slideLayout" Target="/ppt/slideLayouts/slideLayout5.xml" Id="Ra8dd245e0ea74820" /><Relationship Type="http://schemas.openxmlformats.org/officeDocument/2006/relationships/slideLayout" Target="/ppt/slideLayouts/slideLayout6.xml" Id="R190f5078f9a54f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bdff137dd94661"/>
    <p:sldLayoutId xmlns:r="http://schemas.openxmlformats.org/officeDocument/2006/relationships" id="2147483650" r:id="R396761e77bc44968"/>
    <p:sldLayoutId xmlns:r="http://schemas.openxmlformats.org/officeDocument/2006/relationships" id="2147483651" r:id="R3f4634e3fefb451f"/>
    <p:sldLayoutId xmlns:r="http://schemas.openxmlformats.org/officeDocument/2006/relationships" id="2147483652" r:id="R95caf93e0fad43c8"/>
    <p:sldLayoutId xmlns:r="http://schemas.openxmlformats.org/officeDocument/2006/relationships" id="2147483653" r:id="Ra8dd245e0ea74820"/>
    <p:sldLayoutId xmlns:r="http://schemas.openxmlformats.org/officeDocument/2006/relationships" id="2147483654" r:id="R190f5078f9a54f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803ecea624e31" /><Relationship Type="http://schemas.openxmlformats.org/officeDocument/2006/relationships/notesSlide" Target="/ppt/notesSlides/notesSlide1.xml" Id="R1812f71d57e24b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7c31af2c54c66" /><Relationship Type="http://schemas.openxmlformats.org/officeDocument/2006/relationships/notesSlide" Target="/ppt/notesSlides/notesSlide2.xml" Id="Rb96519cc44e946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0d8ced7214fdb" /><Relationship Type="http://schemas.openxmlformats.org/officeDocument/2006/relationships/notesSlide" Target="/ppt/notesSlides/notesSlide3.xml" Id="R06fb07cefdcc4f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af118c1144657" /><Relationship Type="http://schemas.openxmlformats.org/officeDocument/2006/relationships/notesSlide" Target="/ppt/notesSlides/notesSlide4.xml" Id="R9199f5d6605049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702c8e44d4e68" /><Relationship Type="http://schemas.openxmlformats.org/officeDocument/2006/relationships/notesSlide" Target="/ppt/notesSlides/notesSlide5.xml" Id="R72aa8a80fd4e4f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85871b17a43da" /><Relationship Type="http://schemas.openxmlformats.org/officeDocument/2006/relationships/notesSlide" Target="/ppt/notesSlides/notesSlide6.xml" Id="R5b40befb986246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8a03f61494fe3" /><Relationship Type="http://schemas.openxmlformats.org/officeDocument/2006/relationships/notesSlide" Target="/ppt/notesSlides/notesSlide7.xml" Id="Rce6f9c927a33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b9c6f9b7b41a6" /><Relationship Type="http://schemas.openxmlformats.org/officeDocument/2006/relationships/notesSlide" Target="/ppt/notesSlides/notesSlide8.xml" Id="R7613c9d5f81a4a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8ce76d0b0479c" /><Relationship Type="http://schemas.openxmlformats.org/officeDocument/2006/relationships/notesSlide" Target="/ppt/notesSlides/notesSlide9.xml" Id="R01b3dbbfcb1546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e6e15d5fd4ec6" /><Relationship Type="http://schemas.openxmlformats.org/officeDocument/2006/relationships/notesSlide" Target="/ppt/notesSlides/notesSlide10.xml" Id="R499fa245187a47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477e83aa84d42" /><Relationship Type="http://schemas.openxmlformats.org/officeDocument/2006/relationships/notesSlide" Target="/ppt/notesSlides/notesSlide11.xml" Id="R3653a88b20b84e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285d94bbe40d5" /><Relationship Type="http://schemas.openxmlformats.org/officeDocument/2006/relationships/notesSlide" Target="/ppt/notesSlides/notesSlide12.xml" Id="R53b8cdc6713d4c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aed0ad6d544a2" /><Relationship Type="http://schemas.openxmlformats.org/officeDocument/2006/relationships/notesSlide" Target="/ppt/notesSlides/notesSlide13.xml" Id="R72dc991f310d4a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9C6F8-242A-4289-97FC-E13DD528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Árvores balanceadas para encomendas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40870-AFD6-4596-BC6F-AD15A509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Amazon Engineering Challenge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AVL e Rubro-Negra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Guilherme Soares</a:t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Estruturas de Dados Básicas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D6476-2264-4F41-A33A-4CEA0DA9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1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87591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12166-4B56-47EB-9052-8DB920CD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F4B17-9F5E-4101-A545-BE916613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Na Black Friday, identificadores de encomendas precisam ser cadastrados, localizados e removidos.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Uma árvore de busca comum pode ficar parecida com uma lista se os dados chegarem em ordem.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Objetivo: implementar duas árvores balanceadas e comparar seus resultados.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97648-700E-40A4-B76C-D69EA166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2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1419116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04261-4F80-4FC9-AB25-C54A4A9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Por que balancear?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DC06C-D510-4460-BB83-5E286BA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Em uma árvore de busca, valores menores ficam à esquerda e maiores à direita.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Se a altura cresce demais, o caminho até um elemento também cresce.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AVL e Rubro-Negra mantêm altura O(log n), garantindo busca, inserção e remoção O(log n).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581BC-6097-487D-AA1F-64707743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3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1921975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19DFC-1659-42D4-B8C2-F7FEC28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Solução desenvolvida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2DDC5-BB4A-4F6E-8E19-C4A5AE55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Programa em C++17, com escolha da árvore no início.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Operações: inserir, buscar, remover, listar em ordem e visualizar.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Identificadores repetidos são recusados. Busca e remoção de ausentes mostram uma mensagem.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 visualização da Rubro-Negra identifica nós pretos [P] e vermelhos [V].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2B518-3144-4E09-8504-43B689D6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4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371345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74613-9732-4DF5-AE41-57C5EE9A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AVL: altura e rotação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99709-A227-4BC5-AC8B-86C60BE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 AVL mantém a diferença entre as alturas das subárvores de cada nó entre -1 e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Exemplo: ao inserir 30, 20 e 10, ocorre uma rotação à direita em 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Antes: 30 com filho 20, que tem filho 10.</a:t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Depois: 20 é a raiz, com 10 à esquerda e 30 à direita.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Rotações duplas são usadas quando necessário.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39C88-2BA7-440E-A123-1FA9F418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5   |   Estruturas de Dados Básicas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95E9-22C1-41BD-B181-60367557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A3A"/>
                </a:solidFill>
              </a:defRPr>
            </a:defPPr>
            <a:lvl1pPr>
              <a:defRPr sz="1800" b="0">
                <a:solidFill>
                  <a:srgbClr val="172A3A"/>
                </a:solidFill>
              </a:defRPr>
            </a:lvl1pPr>
            <a:lvl2pPr>
              <a:defRPr sz="1800" b="0">
                <a:solidFill>
                  <a:srgbClr val="172A3A"/>
                </a:solidFill>
              </a:defRPr>
            </a:lvl2pPr>
            <a:lvl3pPr>
              <a:defRPr sz="1800" b="0">
                <a:solidFill>
                  <a:srgbClr val="172A3A"/>
                </a:solidFill>
              </a:defRPr>
            </a:lvl3pPr>
            <a:lvl4pPr>
              <a:defRPr sz="1800" b="0">
                <a:solidFill>
                  <a:srgbClr val="172A3A"/>
                </a:solidFill>
              </a:defRPr>
            </a:lvl4pPr>
            <a:lvl5pPr>
              <a:defRPr sz="1800" b="0">
                <a:solidFill>
                  <a:srgbClr val="172A3A"/>
                </a:solidFill>
              </a:defRPr>
            </a:lvl5pPr>
            <a:lvl6pPr>
              <a:defRPr sz="1800" b="0">
                <a:solidFill>
                  <a:srgbClr val="172A3A"/>
                </a:solidFill>
              </a:defRPr>
            </a:lvl6pPr>
            <a:lvl7pPr>
              <a:defRPr sz="1800" b="0">
                <a:solidFill>
                  <a:srgbClr val="172A3A"/>
                </a:solidFill>
              </a:defRPr>
            </a:lvl7pPr>
            <a:lvl8pPr>
              <a:defRPr sz="1800" b="0">
                <a:solidFill>
                  <a:srgbClr val="172A3A"/>
                </a:solidFill>
              </a:defRPr>
            </a:lvl8pPr>
            <a:lvl9pPr>
              <a:defRPr sz="1800" b="0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ANTES                 DEPOIS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    30                        20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   /                         /    \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  20                      10     30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 /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7895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4EBA0-2FC7-4864-8280-41CEEE2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Rubro-Negra: cores e ajustes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4FFDE-277B-4CD4-8C0C-F209BFB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 raiz e as folhas sentinelas são pretas. Um nó vermelho não pode ter filho vermelho.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Todo caminho de um nó até uma folha sentinela tem a mesma quantidade de nós pretos.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Ao inserir 30, 20 e 10, a correção usa rotação e mudanças de cor: 20 fica preto na raiz, com 10 e 30 vermelhos.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C0ED5-3D9C-4F86-8789-E0F1A0C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6   |   Estruturas de Dados Básicas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EA883-D231-4FC4-BA0C-B08EE9C6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A3A"/>
                </a:solidFill>
              </a:defRPr>
            </a:defPPr>
            <a:lvl1pPr>
              <a:defRPr sz="1800" b="0">
                <a:solidFill>
                  <a:srgbClr val="172A3A"/>
                </a:solidFill>
              </a:defRPr>
            </a:lvl1pPr>
            <a:lvl2pPr>
              <a:defRPr sz="1800" b="0">
                <a:solidFill>
                  <a:srgbClr val="172A3A"/>
                </a:solidFill>
              </a:defRPr>
            </a:lvl2pPr>
            <a:lvl3pPr>
              <a:defRPr sz="1800" b="0">
                <a:solidFill>
                  <a:srgbClr val="172A3A"/>
                </a:solidFill>
              </a:defRPr>
            </a:lvl3pPr>
            <a:lvl4pPr>
              <a:defRPr sz="1800" b="0">
                <a:solidFill>
                  <a:srgbClr val="172A3A"/>
                </a:solidFill>
              </a:defRPr>
            </a:lvl4pPr>
            <a:lvl5pPr>
              <a:defRPr sz="1800" b="0">
                <a:solidFill>
                  <a:srgbClr val="172A3A"/>
                </a:solidFill>
              </a:defRPr>
            </a:lvl5pPr>
            <a:lvl6pPr>
              <a:defRPr sz="1800" b="0">
                <a:solidFill>
                  <a:srgbClr val="172A3A"/>
                </a:solidFill>
              </a:defRPr>
            </a:lvl6pPr>
            <a:lvl7pPr>
              <a:defRPr sz="1800" b="0">
                <a:solidFill>
                  <a:srgbClr val="172A3A"/>
                </a:solidFill>
              </a:defRPr>
            </a:lvl7pPr>
            <a:lvl8pPr>
              <a:defRPr sz="1800" b="0">
                <a:solidFill>
                  <a:srgbClr val="172A3A"/>
                </a:solidFill>
              </a:defRPr>
            </a:lvl8pPr>
            <a:lvl9pPr>
              <a:defRPr sz="1800" b="0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ANTES                     DEPOIS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   30 [P]                     20 [P]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  /                          /       \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20 [V]                  10 [V]    30 [V]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 /</a:t>
            </a:r>
          </a:p>
          <a:p xmlns:a="http://schemas.openxmlformats.org/drawingml/2006/main">
            <a:pPr>
              <a:defRPr sz="1800" b="0">
                <a:solidFill>
                  <a:srgbClr val="172A3A"/>
                </a:solidFill>
              </a:defRPr>
            </a:pPr>
            <a:r>
              <a:rPr sz="1800" b="0">
                <a:solidFill>
                  <a:srgbClr val="172A3A"/>
                </a:solidFill>
              </a:rPr>
              <a:t>10 [V]</a:t>
            </a:r>
          </a:p>
        </p:txBody>
      </p:sp>
    </p:spTree>
    <p:extLst>
      <p:ext uri="{BB962C8B-B14F-4D97-AF65-F5344CB8AC3E}">
        <p14:creationId xmlns:p14="http://schemas.microsoft.com/office/powerpoint/2010/main" val="1436131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97980-4019-47C5-8F17-3526A4D7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Demonstração das operações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76425-9576-4B5E-AD08-1456F14F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Nas duas árvores: inserir 30, 20 e 10; buscar 20; remover 30; listar em ordem.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Busca: 20 encontrado.</a:t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Após remover 30, percurso em ordem: 10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As saídas completas da execução estão em resultados/ no repositório.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7433C-062B-4C33-919C-1296C284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7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728693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B6893-F874-4269-8510-CF14FE04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Testes de funcionamento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959C4-6D24-4173-B66C-6CB5FF08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Casos: árvore vazia e unitária, duplicados, busca ausente, remoção ausente, folhas e nós com um ou dois filhos.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20.000 operações pseudaleatórias em cada árvore, comparadas a um conjunto de referência.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Após cada operação, são verificadas a ordem e as propriedades da estrutura. Todos os testes passaram.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F172B-13E1-4632-9A1F-F9910D3A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8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4483125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80333-BC82-4948-A38F-D49AF17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Como a comparação foi feita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906D4-377F-4283-A265-1292116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Para cada cenário, inserimos 1.000 identificadores e removemos os primeiros 500 da mesma sequência.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Cenários: crescente, decrescente e embaralhado.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Altura conta nós: árvore vazia = 0. Rotações são acumuladas desde o início; uma rotação dupla conta como duas.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295D1-4A9B-4BBC-BB2C-76F36CA8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9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15317984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8443F-9160-4298-8C35-C9DD7352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Resultados após as inserções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D5AD4-0B7B-414A-A8B8-459932DE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Cenário                    Altura AVL / RN          Rotações AVL / 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Crescente                        10 / 17                          990 / 983</a:t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Decrescente                    10 / 17                          990 / 983</a:t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Embaralhado                   12 / 12                          662 / 564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Ajustes de cor da RN e nós rebalanceados da AVL são medidas diferentes e não são comparados diretamente.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5F4E8-3973-49D5-841F-E9748B2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10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711597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17F5D-4BF1-4C44-9485-DB54F351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Resultados após 500 remoções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0AAEB-359D-4941-9172-7BF4214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Cenário                    Altura AVL / RN          Rotações AVL / 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Crescente                        10 / 15                       1238 / 1232</a:t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Decrescente                    10 / 15                       1238 / 1232</a:t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Embaralhado                   11 / 11                          874 / 790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Os totais de rotações incluem inserções e remoções.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E8191-116C-46E1-ACB4-453EF006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11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20654146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308FA-4807-4D20-A3E6-50E0662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Recomendação e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A89AF-927A-428E-A2C2-09EFA1E9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Para priorizar altura menor e caminhos de busca mais curtos neste protótipo, a AVL é uma escolha razoável.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A Rubro-Negra fez menos rotações nos três cenários e é uma alternativa a considerar quando atualizações são frequentes.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Não medimos tempo nem usamos uma carga real da Amazon. Mais testes seriam necessários para decidir em produção.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2EC45-5EFF-4CE5-B292-A47D1481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12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1049638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41529-8238-47B2-BB91-B0A166C1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A3A"/>
                </a:solidFill>
              </a:defRPr>
            </a:defPPr>
            <a:lvl1pPr>
              <a:defRPr sz="2850" b="1">
                <a:solidFill>
                  <a:srgbClr val="172A3A"/>
                </a:solidFill>
              </a:defRPr>
            </a:lvl1pPr>
            <a:lvl2pPr>
              <a:defRPr sz="2850" b="1">
                <a:solidFill>
                  <a:srgbClr val="172A3A"/>
                </a:solidFill>
              </a:defRPr>
            </a:lvl2pPr>
            <a:lvl3pPr>
              <a:defRPr sz="2850" b="1">
                <a:solidFill>
                  <a:srgbClr val="172A3A"/>
                </a:solidFill>
              </a:defRPr>
            </a:lvl3pPr>
            <a:lvl4pPr>
              <a:defRPr sz="2850" b="1">
                <a:solidFill>
                  <a:srgbClr val="172A3A"/>
                </a:solidFill>
              </a:defRPr>
            </a:lvl4pPr>
            <a:lvl5pPr>
              <a:defRPr sz="2850" b="1">
                <a:solidFill>
                  <a:srgbClr val="172A3A"/>
                </a:solidFill>
              </a:defRPr>
            </a:lvl5pPr>
            <a:lvl6pPr>
              <a:defRPr sz="2850" b="1">
                <a:solidFill>
                  <a:srgbClr val="172A3A"/>
                </a:solidFill>
              </a:defRPr>
            </a:lvl6pPr>
            <a:lvl7pPr>
              <a:defRPr sz="2850" b="1">
                <a:solidFill>
                  <a:srgbClr val="172A3A"/>
                </a:solidFill>
              </a:defRPr>
            </a:lvl7pPr>
            <a:lvl8pPr>
              <a:defRPr sz="2850" b="1">
                <a:solidFill>
                  <a:srgbClr val="172A3A"/>
                </a:solidFill>
              </a:defRPr>
            </a:lvl8pPr>
            <a:lvl9pPr>
              <a:defRPr sz="285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A3A"/>
                </a:solidFill>
              </a:defRPr>
            </a:pPr>
            <a:r>
              <a:rPr sz="2850" b="1">
                <a:solidFill>
                  <a:srgbClr val="172A3A"/>
                </a:solidFill>
              </a:rPr>
              <a:t>Referências e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72B1B-8A90-4D80-9ACE-E058576E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73445"/>
                </a:solidFill>
              </a:defRPr>
            </a:defPPr>
            <a:lvl1pPr>
              <a:defRPr sz="1950" b="0">
                <a:solidFill>
                  <a:srgbClr val="273445"/>
                </a:solidFill>
              </a:defRPr>
            </a:lvl1pPr>
            <a:lvl2pPr>
              <a:defRPr sz="1950" b="0">
                <a:solidFill>
                  <a:srgbClr val="273445"/>
                </a:solidFill>
              </a:defRPr>
            </a:lvl2pPr>
            <a:lvl3pPr>
              <a:defRPr sz="1950" b="0">
                <a:solidFill>
                  <a:srgbClr val="273445"/>
                </a:solidFill>
              </a:defRPr>
            </a:lvl3pPr>
            <a:lvl4pPr>
              <a:defRPr sz="1950" b="0">
                <a:solidFill>
                  <a:srgbClr val="273445"/>
                </a:solidFill>
              </a:defRPr>
            </a:lvl4pPr>
            <a:lvl5pPr>
              <a:defRPr sz="1950" b="0">
                <a:solidFill>
                  <a:srgbClr val="273445"/>
                </a:solidFill>
              </a:defRPr>
            </a:lvl5pPr>
            <a:lvl6pPr>
              <a:defRPr sz="1950" b="0">
                <a:solidFill>
                  <a:srgbClr val="273445"/>
                </a:solidFill>
              </a:defRPr>
            </a:lvl6pPr>
            <a:lvl7pPr>
              <a:defRPr sz="1950" b="0">
                <a:solidFill>
                  <a:srgbClr val="273445"/>
                </a:solidFill>
              </a:defRPr>
            </a:lvl7pPr>
            <a:lvl8pPr>
              <a:defRPr sz="1950" b="0">
                <a:solidFill>
                  <a:srgbClr val="273445"/>
                </a:solidFill>
              </a:defRPr>
            </a:lvl8pPr>
            <a:lvl9pPr>
              <a:defRPr sz="1950" b="0">
                <a:solidFill>
                  <a:srgbClr val="27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Código, instruções, testes e resultados:</a:t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https://github.com/guilhermesoaresf/amazon-arvores-balanceadas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Enunciado da Unidade II, IMD0039.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Cormen et al. Introduction to Algorithms, 3ª 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73445"/>
                </a:solidFill>
              </a:defRPr>
            </a:pPr>
            <a:r>
              <a:rPr sz="1950" b="0">
                <a:solidFill>
                  <a:srgbClr val="273445"/>
                </a:solidFill>
              </a:rPr>
              <a:t>Open Data Structures: https://opendatastructures.org/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179C2-7664-4D6D-B700-C98DFD3D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D7782"/>
                </a:solidFill>
              </a:defRPr>
            </a:defPPr>
            <a:lvl1pPr>
              <a:defRPr sz="1125" b="0">
                <a:solidFill>
                  <a:srgbClr val="6D7782"/>
                </a:solidFill>
              </a:defRPr>
            </a:lvl1pPr>
            <a:lvl2pPr>
              <a:defRPr sz="1125" b="0">
                <a:solidFill>
                  <a:srgbClr val="6D7782"/>
                </a:solidFill>
              </a:defRPr>
            </a:lvl2pPr>
            <a:lvl3pPr>
              <a:defRPr sz="1125" b="0">
                <a:solidFill>
                  <a:srgbClr val="6D7782"/>
                </a:solidFill>
              </a:defRPr>
            </a:lvl3pPr>
            <a:lvl4pPr>
              <a:defRPr sz="1125" b="0">
                <a:solidFill>
                  <a:srgbClr val="6D7782"/>
                </a:solidFill>
              </a:defRPr>
            </a:lvl4pPr>
            <a:lvl5pPr>
              <a:defRPr sz="1125" b="0">
                <a:solidFill>
                  <a:srgbClr val="6D7782"/>
                </a:solidFill>
              </a:defRPr>
            </a:lvl5pPr>
            <a:lvl6pPr>
              <a:defRPr sz="1125" b="0">
                <a:solidFill>
                  <a:srgbClr val="6D7782"/>
                </a:solidFill>
              </a:defRPr>
            </a:lvl6pPr>
            <a:lvl7pPr>
              <a:defRPr sz="1125" b="0">
                <a:solidFill>
                  <a:srgbClr val="6D7782"/>
                </a:solidFill>
              </a:defRPr>
            </a:lvl7pPr>
            <a:lvl8pPr>
              <a:defRPr sz="1125" b="0">
                <a:solidFill>
                  <a:srgbClr val="6D7782"/>
                </a:solidFill>
              </a:defRPr>
            </a:lvl8pPr>
            <a:lvl9pPr>
              <a:defRPr sz="1125" b="0">
                <a:solidFill>
                  <a:srgbClr val="6D77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D7782"/>
                </a:solidFill>
              </a:defRPr>
            </a:pPr>
            <a:r>
              <a:rPr sz="1125" b="0">
                <a:solidFill>
                  <a:srgbClr val="6D7782"/>
                </a:solidFill>
              </a:rPr>
              <a:t>13   |   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189099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2026-10-28T23:18:04.8700000Z</dcterms:created>
  <dcterms:modified xsi:type="dcterms:W3CDTF">2026-10-28T23:18:04.8700000Z</dcterms:modified>
</coreProperties>
</file>